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89640acff1f466d" Type="http://schemas.openxmlformats.org/officeDocument/2006/relationships/extended-properties" Target="docProps/app.xml"/><Relationship Id="R8e6f16eb2b2944d3" Type="http://schemas.openxmlformats.org/officeDocument/2006/relationships/officeDocument" Target="ppt/presentation.xml"/><Relationship Id="Rcf6c8b58f34c427b"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c9c9af91eee84aae"/>
  </p:sldMasterIdLst>
  <p:notesMasterIdLst>
    <p:notesMasterId xmlns:r="http://schemas.openxmlformats.org/officeDocument/2006/relationships" r:id="Rebf19cc4d4104822"/>
  </p:notesMasterIdLst>
  <p:sldIdLst>
    <p:sldId xmlns:r="http://schemas.openxmlformats.org/officeDocument/2006/relationships" id="256" r:id="R2a033c2920a843ec"/>
    <p:sldId xmlns:r="http://schemas.openxmlformats.org/officeDocument/2006/relationships" id="257" r:id="Rb4e58e2560fd4af3"/>
    <p:sldId xmlns:ns0="http://schemas.openxmlformats.org/officeDocument/2006/relationships" id="262" ns0:id="rId12"/>
    <p:sldId xmlns:r="http://schemas.openxmlformats.org/officeDocument/2006/relationships" id="259" r:id="R5a2085a4f5b34819"/>
    <p:sldId xmlns:r="http://schemas.openxmlformats.org/officeDocument/2006/relationships" id="258" r:id="R5f270ffef73d4841"/>
    <p:sldId xmlns:ns0="http://schemas.openxmlformats.org/officeDocument/2006/relationships" id="263" ns0:id="rId13"/>
    <p:sldId xmlns:ns0="http://schemas.openxmlformats.org/officeDocument/2006/relationships" id="264" ns0:id="rId14"/>
    <p:sldId xmlns:r="http://schemas.openxmlformats.org/officeDocument/2006/relationships" id="261" r:id="R68125e182d6c4e5f"/>
    <p:sldId xmlns:r="http://schemas.openxmlformats.org/officeDocument/2006/relationships" id="260" r:id="Rcbf31f1d25b44b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8509b9487e047a8" Type="http://schemas.openxmlformats.org/officeDocument/2006/relationships/theme" Target="theme/theme1.xml"/><Relationship Id="R2a033c2920a843ec" Type="http://schemas.openxmlformats.org/officeDocument/2006/relationships/slide" Target="slides/slide1.xml"/><Relationship Id="R5a2085a4f5b34819" Type="http://schemas.openxmlformats.org/officeDocument/2006/relationships/slide" Target="slides/slide4.xml"/><Relationship Id="R5f270ffef73d4841" Type="http://schemas.openxmlformats.org/officeDocument/2006/relationships/slide" Target="slides/slide5.xml"/><Relationship Id="R68125e182d6c4e5f" Type="http://schemas.openxmlformats.org/officeDocument/2006/relationships/slide" Target="slides/slide8.xml"/><Relationship Id="Rb4e58e2560fd4af3" Type="http://schemas.openxmlformats.org/officeDocument/2006/relationships/slide" Target="slides/slide2.xml"/><Relationship Id="Rc9c9af91eee84aae" Type="http://schemas.openxmlformats.org/officeDocument/2006/relationships/slideMaster" Target="slideMasters/slideMaster1.xml"/><Relationship Id="Rcbf31f1d25b44b78" Type="http://schemas.openxmlformats.org/officeDocument/2006/relationships/slide" Target="slides/slide9.xml"/><Relationship Id="Re205586e94254ff1" Type="http://schemas.openxmlformats.org/officeDocument/2006/relationships/presProps" Target="presProps.xml"/><Relationship Id="Re710252f4d4343cd" Type="http://schemas.openxmlformats.org/officeDocument/2006/relationships/tableStyles" Target="tableStyles.xml"/><Relationship Id="Rebf19cc4d4104822" Type="http://schemas.openxmlformats.org/officeDocument/2006/relationships/notesMaster" Target="notesMasters/notesMaster1.xml"/><Relationship Id="rId12" Type="http://schemas.openxmlformats.org/officeDocument/2006/relationships/slide" Target="slides/slide3.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e1318b069301485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acf2c6c03704b03" Type="http://schemas.openxmlformats.org/officeDocument/2006/relationships/notesMaster" Target="../notesMasters/notesMaster1.xml"/><Relationship Id="R68bbfb25084844a6"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a1ffc330668454d" Type="http://schemas.openxmlformats.org/officeDocument/2006/relationships/slide" Target="../slides/slide2.xml"/><Relationship Id="R8a5e16f6af59495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a84c7b540fe412c" Type="http://schemas.openxmlformats.org/officeDocument/2006/relationships/slide" Target="../slides/slide5.xml"/><Relationship Id="R952e44fbf1bc4c7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2dcc495490b462c" Type="http://schemas.openxmlformats.org/officeDocument/2006/relationships/slide" Target="../slides/slide4.xml"/><Relationship Id="Rfb2b9680545340cd"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442ed5766c549e5" Type="http://schemas.openxmlformats.org/officeDocument/2006/relationships/slide" Target="../slides/slide9.xml"/><Relationship Id="Rda9887827bb0480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c3c7be56066456f" Type="http://schemas.openxmlformats.org/officeDocument/2006/relationships/slide" Target="../slides/slide8.xml"/><Relationship Id="Rd808f7d51235455c"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0:00–3:00. Presenter 1: replace the editable presenter field with the group member's name.</a:t>
            </a:r>
          </a:p>
          <a:p xmlns:a="http://schemas.openxmlformats.org/drawingml/2006/main">
            <a:r>
              <a:t>Open in Dhaga's language: many returns are placed in Other, while the category team sees fit issues when reading comments manually. Ask Ritu and Dev whether that matches their experience, then point to the 44% client-stated baseline.</a:t>
            </a:r>
          </a:p>
          <a:p xmlns:a="http://schemas.openxmlformats.org/drawingml/2006/main">
            <a:r>
              <a:t>The quote is attributed to Neha, Category Head, in docs/DISCOVERY_NOTE.md. Do not present this as a statistically sampled result; it is discovery evidence. The 44% figure is from the client engagement brief summarized in that note. Synthetic demo records are not client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3:00–6:00. Presenter 2: replace the editable presenter field with the group member's name.</a:t>
            </a:r>
          </a:p>
          <a:p xmlns:a="http://schemas.openxmlformats.org/drawingml/2006/main">
            <a:r>
              <a:t>Walk through the arithmetic: 48,000 client-reported weekly orders × 31% reported return rate = 14,880 returns per week. Apply the client-reported 44% Other share to get about 6,547, rounded to about 6,550 Other returns per week. This is an implied volume scenario, not a measured weekly dataset.</a:t>
            </a:r>
          </a:p>
          <a:p xmlns:a="http://schemas.openxmlformats.org/drawingml/2006/main">
            <a:r>
              <a:t>The brief also reports acquisition cost up 40% year over year and repeat purchase at 22% for six quarters. Do not claim the root-cause tool will reduce either metric or calculate savings; the acquisition attribution join and cost per return are not defined.</a:t>
            </a:r>
          </a:p>
          <a:p xmlns:a="http://schemas.openxmlformats.org/drawingml/2006/main">
            <a:r>
              <a:t>Our measurable commitment is a human-labeled holdout report with category/subcategory accuracy, usable-cause coverage, and review rate. Agree the acceptance threshold with Ritu and Dev before an expanded pilot.</a:t>
            </a:r>
          </a:p>
          <a:p xmlns:a="http://schemas.openxmlformats.org/drawingml/2006/main">
            <a:r>
              <a:t>Source: docs/DISCOVERY_NOTE.md (brief facts and ranked discovery). Derived arithmetic shown on-slide.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6:00–12:00. Presenter 3: replace the editable presenter field with the group member's name.</a:t>
            </a:r>
          </a:p>
          <a:p xmlns:a="http://schemas.openxmlformats.org/drawingml/2006/main">
            <a:r>
              <a:t>Pre-demo: open the stable UI URL above. The checked public page currently shows API address http://localhost:8000 and Not connected by default. Enter the production API's Aliased URL in API address and press Connect before the client arrives. The API URL was not supplied for this deck; use the real URL privately in the demo and do not leave localhost in place.</a:t>
            </a:r>
          </a:p>
          <a:p xmlns:a="http://schemas.openxmlformats.org/drawingml/2006/main">
            <a:r>
              <a:t>Use synthetic/test data only. The checked-in sample return RET-SAMPLE-001 has text: “The selected size felt too tight.” Repeated classification returns the stored analysis when one exists, so show that honestly as a saved result; do not promise a fresh model call. If it is not present in the live database, use a seeded test record that exists and update this slide/note before presenting.</a:t>
            </a:r>
          </a:p>
          <a:p xmlns:a="http://schemas.openxmlformats.org/drawingml/2006/main">
            <a:r>
              <a:t>Show the pending review queue only if a synthetic review is already pending. If no row is pending, explain the low-confidence/Other rule and avoid creating a false state on stage. The current checked-in returns fixture contains only one return; confirm the deployed database state in advance.</a:t>
            </a:r>
          </a:p>
          <a:p xmlns:a="http://schemas.openxmlformats.org/drawingml/2006/main">
            <a:r>
              <a:t>For the required failure case, submit RET-DEMO-MISSING-000 (or another confirmed nonexistent ID). The API checks for the return before calling a model and should return a visible not-found error. Explain that this failure is intentional and should not be saved as a classification.</a:t>
            </a:r>
          </a:p>
          <a:p xmlns:a="http://schemas.openxmlformats.org/drawingml/2006/main">
            <a:r>
              <a:t>Timing: 0:00–0:45 connect; 0:45–1:45 dashboard; 1:45–3:30 classification; 3:30–4:45 review path; 4:45–6:00 failure and questions. Be ready to shorten the review portion if no pending row exists.</a:t>
            </a:r>
          </a:p>
          <a:p xmlns:a="http://schemas.openxmlformats.org/drawingml/2006/main">
            <a:r>
              <a:t>Source: live UI URL provided by project owner; interface checked in Codex browser. The UI opened but was not connected to an API during that check. API behavior is based on app/api.py and docs/BUILD_NOTE.md.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 Presenter 4: replace the editable presenter field with the group member's name.</a:t>
            </a:r>
          </a:p>
          <a:p xmlns:a="http://schemas.openxmlformats.org/drawingml/2006/main">
            <a:r>
              <a:t>Be explicit: these are proposed next steps, not functions already delivered. Ask Ritu to nominate the category owner for reviewing labels. Ask Dev to confirm the data path, fields, and owner for preparing the sample.</a:t>
            </a:r>
          </a:p>
          <a:p xmlns:a="http://schemas.openxmlformats.org/drawingml/2006/main">
            <a:r>
              <a:t>A proposed sample of about 15,000 weekly returns comes from 48,000 weekly orders × 31% client-reported return rate, rounded; it is a planning volume, not data currently loaded. Start with a smaller de-identified and approved pilot extract if that is operationally safer.</a:t>
            </a:r>
          </a:p>
          <a:p xmlns:a="http://schemas.openxmlformats.org/drawingml/2006/main">
            <a:r>
              <a:t>The current schema does not define an acquisition/campaign join, and size-chart effective dates/version handling need confirmation. We need Dhaga's source definitions before promising those analyses.</a:t>
            </a:r>
          </a:p>
          <a:p xmlns:a="http://schemas.openxmlformats.org/drawingml/2006/main">
            <a:r>
              <a:t>Close with concrete asks: data owner and sample timing; category reviewers; acceptance threshold; source details for vendor charts and acquisition attribution.</a:t>
            </a:r>
          </a:p>
          <a:p xmlns:a="http://schemas.openxmlformats.org/drawingml/2006/main">
            <a:r>
              <a:t>Source: docs/DISCOVERY_NOTE.md and README.md; known gaps summarized from the implementation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14:00–20:00. Presenter 5 facilitates. Replace the editable presenter field with the group member's name. Every other member should take at least one question, including those who presented earlier.</a:t>
            </a:r>
          </a:p>
          <a:p xmlns:a="http://schemas.openxmlformats.org/drawingml/2006/main">
            <a:r>
              <a:t>Cost answer: see appendix. The only available estimate is model-variable spend using assumed token counts, published OpenRouter rates, and a 10% escalation scenario. It excludes Vercel, Aiven, engineering/operations, data preparation, and taxes. We have not instrumented observed token use or production model spend. The Dhaga brief does not provide rupee cost per return, so do not claim ROI or savings.</a:t>
            </a:r>
          </a:p>
          <a:p xmlns:a="http://schemas.openxmlformats.org/drawingml/2006/main">
            <a:r>
              <a:t>Operations answer: ask who at Dhaga will own the category taxonomy and pending-review decisions. Engineering support owns hosting, the Aiven database, secrets, model availability, and deployment; exact on-call ownership still needs agreement.</a:t>
            </a:r>
          </a:p>
          <a:p xmlns:a="http://schemas.openxmlformats.org/drawingml/2006/main">
            <a:r>
              <a:t>Wrong-label answer: schema validation catches malformed/unsupported labels and the API surfaces provider/database errors. Low-confidence or Other cases queue for human review. Confidence is not calibrated; confident mistakes can pass. The proposed control is a human-labeled holdout and agreed threshold, not a claim of zero error.</a:t>
            </a:r>
          </a:p>
          <a:p xmlns:a="http://schemas.openxmlformats.org/drawingml/2006/main">
            <a:r>
              <a:t>Real-data answer: currently synthetic/sample data only. Before bringing comments to the public app, agree privacy, retention, allowed model processing, access control, and rate limiting. Do not expose the currently unauthenticated write/model operations to real data.</a:t>
            </a:r>
          </a:p>
          <a:p xmlns:a="http://schemas.openxmlformats.org/drawingml/2006/main">
            <a:r>
              <a:t>Leave roughly one minute at the end to capture decisions and owners. If no question comes, ask the closing question displayed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if cost detail is requested. Rates checked on 2 October 2026 from OpenRouter's model pricing pages. Rates and provider routes can change; refresh before presenting.</a:t>
            </a:r>
          </a:p>
          <a:p xmlns:a="http://schemas.openxmlformats.org/drawingml/2006/main">
            <a:r>
              <a:t>GPT-4.1 Mini listed rates: $0.40 per million input tokens and $1.60 per million output tokens. Estimate: (200×0.40 + 100×1.60)/1,000,000 = $0.00024.</a:t>
            </a:r>
          </a:p>
          <a:p xmlns:a="http://schemas.openxmlformats.org/drawingml/2006/main">
            <a:r>
              <a:t>GPT-4.1 listed rates: $2 per million input tokens and $8 per million output tokens. Assumed heavy prompt: (300×2 + 100×8)/1,000,000 = $0.0014 additional; total escalated call under these assumptions is $0.00164.</a:t>
            </a:r>
          </a:p>
          <a:p xmlns:a="http://schemas.openxmlformats.org/drawingml/2006/main">
            <a:r>
              <a:t>At 10% escalation: $0.00024 + 10%×$0.0014 = $0.00038/return. At 14,880 returns/week this equals $5.6544/week (about $294/year at 52 weeks). If all returns escalated, about $24.40/week under the same assumptions.</a:t>
            </a:r>
          </a:p>
          <a:p xmlns:a="http://schemas.openxmlformats.org/drawingml/2006/main">
            <a:r>
              <a:t>This is model-variable cost only. No observed token counts, escalation rate, actual bill, infrastructure, taxes, data work, or labor are included. Do not present as a forecast or ROI.</a:t>
            </a:r>
          </a:p>
          <a:p xmlns:a="http://schemas.openxmlformats.org/drawingml/2006/main">
            <a:r>
              <a:t>Sources: https://openrouter.ai/openai/gpt-4.1-mini and https://openrouter.ai/openai/gpt-4.1/pricing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05d729a7657419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8fa8d4279a54e13" Type="http://schemas.openxmlformats.org/officeDocument/2006/relationships/slideLayout" Target="../slideLayouts/slideLayout1.xml"/><Relationship Id="R79905e0c5ff54c8c"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fa8d4279a54e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ec5ee94c99b4867" Type="http://schemas.openxmlformats.org/officeDocument/2006/relationships/notesSlide" Target="../notesSlides/notesSlide1.xml"/><Relationship Id="R804a6210b4894500"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3e3f54b8a8942f2" Type="http://schemas.openxmlformats.org/officeDocument/2006/relationships/slideLayout" Target="../slideLayouts/slideLayout1.xml"/><Relationship Id="Ra2951fcf8f874a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1cca3219d4734f7e" Type="http://schemas.openxmlformats.org/officeDocument/2006/relationships/notesSlide" Target="../notesSlides/notesSlide4.xml"/><Relationship Id="R99f9ad1784e4464d"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632ffe6b33fc42e4" Type="http://schemas.openxmlformats.org/officeDocument/2006/relationships/notesSlide" Target="../notesSlides/notesSlide3.xml"/><Relationship Id="R7046154d812e49a8"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77634385a2476c" Type="http://schemas.openxmlformats.org/officeDocument/2006/relationships/slideLayout" Target="../slideLayouts/slideLayout1.xml"/><Relationship Id="Rb0cba5a58fdf4bd8" Type="http://schemas.openxmlformats.org/officeDocument/2006/relationships/notesSlide" Target="../notesSlides/notesSlide6.xml"/><Relationship Id="rId3" Type="http://schemas.openxmlformats.org/officeDocument/2006/relationships/hyperlink" Target="https://openrouter.ai/docs/guides/community/jev" TargetMode="External"/></Relationships>
</file>

<file path=ppt/slides/_rels/slide9.xml.rels><?xml version='1.0' encoding='UTF-8' standalone='yes'?>
<Relationships xmlns="http://schemas.openxmlformats.org/package/2006/relationships"><Relationship Id="R056b8e1c38994f2d" Type="http://schemas.openxmlformats.org/officeDocument/2006/relationships/slideLayout" Target="../slideLayouts/slideLayout1.xml"/><Relationship Id="R8529deed78ce4bf8" Type="http://schemas.openxmlformats.org/officeDocument/2006/relationships/notesSlide" Target="../notesSlides/notesSlide5.xml"/></Relationships>
</file>

<file path=ppt/slides/slide1.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BEDC90-FE17-4244-B06D-1620C8AC6A39}"/>
              </a:ext>
            </a:extLst>
          </p:cNvPr>
          <p:cNvSpPr>
            <a:spLocks xmlns:a="http://schemas.openxmlformats.org/drawingml/2006/main" noGrp="1"/>
          </p:cNvSpPr>
          <p:nvPr/>
        </p:nvSpPr>
        <p:spPr>
          <a:xfrm xmlns:a="http://schemas.openxmlformats.org/drawingml/2006/main">
            <a:off x="685800" y="4000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DHAGA &amp; CO.  /  CLIENT WORKING SESSION</a:t>
            </a:r>
          </a:p>
        </p:txBody>
      </p:sp>
      <p:sp>
        <p:nvSpPr>
          <p:cNvPr id="2" name="">
            <a:extLst xmlns:a="http://schemas.openxmlformats.org/drawingml/2006/main">
              <a:ext uri="{FF2B5EF4-FFF2-40B4-BE49-F238E27FC236}">
                <a16:creationId xmlns:a16="http://schemas.microsoft.com/office/drawing/2014/main" id="{8F787F04-E20B-4A14-891C-74E7005B6A9E}"/>
              </a:ext>
            </a:extLst>
          </p:cNvPr>
          <p:cNvSpPr>
            <a:spLocks xmlns:a="http://schemas.openxmlformats.org/drawingml/2006/main" noGrp="1"/>
          </p:cNvSpPr>
          <p:nvPr/>
        </p:nvSpPr>
        <p:spPr>
          <a:xfrm xmlns:a="http://schemas.openxmlformats.org/drawingml/2006/main">
            <a:off x="609600" y="1428750"/>
            <a:ext cx="4191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00" b="1" i="0">
                <a:solidFill>
                  <a:srgbClr val="D744C4"/>
                </a:solidFill>
                <a:latin typeface="Arial"/>
                <a:ea typeface="Arial"/>
                <a:cs typeface="Arial"/>
              </a:defRPr>
            </a:pPr>
            <a:r>
              <a:rPr sz="13800" b="1" i="0">
                <a:solidFill>
                  <a:srgbClr val="D744C4"/>
                </a:solidFill>
                <a:latin typeface="Arial"/>
                <a:ea typeface="Arial"/>
                <a:cs typeface="Arial"/>
              </a:rPr>
              <a:t>44%</a:t>
            </a:r>
          </a:p>
        </p:txBody>
      </p:sp>
      <p:sp>
        <p:nvSpPr>
          <p:cNvPr id="3" name="">
            <a:extLst xmlns:a="http://schemas.openxmlformats.org/drawingml/2006/main">
              <a:ext uri="{FF2B5EF4-FFF2-40B4-BE49-F238E27FC236}">
                <a16:creationId xmlns:a16="http://schemas.microsoft.com/office/drawing/2014/main" id="{11B9D2D2-DC26-4198-B66B-BF8D6E7F49FF}"/>
              </a:ext>
            </a:extLst>
          </p:cNvPr>
          <p:cNvSpPr>
            <a:spLocks xmlns:a="http://schemas.openxmlformats.org/drawingml/2006/main" noGrp="1"/>
          </p:cNvSpPr>
          <p:nvPr/>
        </p:nvSpPr>
        <p:spPr>
          <a:xfrm xmlns:a="http://schemas.openxmlformats.org/drawingml/2006/main">
            <a:off x="4953000" y="18097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i="0">
                <a:solidFill>
                  <a:srgbClr val="07162D"/>
                </a:solidFill>
                <a:latin typeface="Arial"/>
                <a:ea typeface="Arial"/>
                <a:cs typeface="Arial"/>
              </a:defRPr>
            </a:pPr>
            <a:r>
              <a:rPr sz="4650" b="1" i="0">
                <a:solidFill>
                  <a:srgbClr val="07162D"/>
                </a:solidFill>
                <a:latin typeface="Arial"/>
                <a:ea typeface="Arial"/>
                <a:cs typeface="Arial"/>
              </a:rPr>
              <a:t>of returns are</a:t>
            </a:r>
          </a:p>
          <a:p xmlns:a="http://schemas.openxmlformats.org/drawingml/2006/main">
            <a:pPr algn="l">
              <a:defRPr sz="4650" b="1" i="0">
                <a:solidFill>
                  <a:srgbClr val="07162D"/>
                </a:solidFill>
                <a:latin typeface="Arial"/>
                <a:ea typeface="Arial"/>
                <a:cs typeface="Arial"/>
              </a:defRPr>
            </a:pPr>
            <a:r>
              <a:rPr sz="4650" b="1" i="0">
                <a:solidFill>
                  <a:srgbClr val="07162D"/>
                </a:solidFill>
                <a:latin typeface="Arial"/>
                <a:ea typeface="Arial"/>
                <a:cs typeface="Arial"/>
              </a:rPr>
              <a:t>marked “Other”</a:t>
            </a:r>
          </a:p>
        </p:txBody>
      </p:sp>
      <p:sp>
        <p:nvSpPr>
          <p:cNvPr id="4" name="">
            <a:extLst xmlns:a="http://schemas.openxmlformats.org/drawingml/2006/main">
              <a:ext uri="{FF2B5EF4-FFF2-40B4-BE49-F238E27FC236}">
                <a16:creationId xmlns:a16="http://schemas.microsoft.com/office/drawing/2014/main" id="{25145469-194F-4A8A-98AD-EFA37D9E6CED}"/>
              </a:ext>
            </a:extLst>
          </p:cNvPr>
          <p:cNvSpPr>
            <a:spLocks xmlns:a="http://schemas.openxmlformats.org/drawingml/2006/main" noGrp="1"/>
          </p:cNvSpPr>
          <p:nvPr/>
        </p:nvSpPr>
        <p:spPr>
          <a:xfrm xmlns:a="http://schemas.openxmlformats.org/drawingml/2006/main">
            <a:off x="742950" y="3952875"/>
            <a:ext cx="10648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1">
                <a:solidFill>
                  <a:srgbClr val="2B5F86"/>
                </a:solidFill>
                <a:latin typeface="Arial"/>
                <a:ea typeface="Arial"/>
                <a:cs typeface="Arial"/>
              </a:defRPr>
            </a:pPr>
            <a:r>
              <a:rPr sz="1950" b="0" i="1">
                <a:solidFill>
                  <a:srgbClr val="2B5F86"/>
                </a:solidFill>
                <a:latin typeface="Arial"/>
                <a:ea typeface="Arial"/>
                <a:cs typeface="Arial"/>
              </a:rPr>
              <a:t>“When I read the Other box by hand, most of it is about fit, but I can only read a few hundred at a time.”</a:t>
            </a:r>
          </a:p>
        </p:txBody>
      </p:sp>
      <p:sp>
        <p:nvSpPr>
          <p:cNvPr id="5" name="">
            <a:extLst xmlns:a="http://schemas.openxmlformats.org/drawingml/2006/main">
              <a:ext uri="{FF2B5EF4-FFF2-40B4-BE49-F238E27FC236}">
                <a16:creationId xmlns:a16="http://schemas.microsoft.com/office/drawing/2014/main" id="{B872F640-7C31-4751-8656-E27D4EDBE6A8}"/>
              </a:ext>
            </a:extLst>
          </p:cNvPr>
          <p:cNvSpPr>
            <a:spLocks xmlns:a="http://schemas.openxmlformats.org/drawingml/2006/main" noGrp="1"/>
          </p:cNvSpPr>
          <p:nvPr/>
        </p:nvSpPr>
        <p:spPr>
          <a:xfrm xmlns:a="http://schemas.openxmlformats.org/drawingml/2006/main">
            <a:off x="762000" y="52197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7162D"/>
                </a:solidFill>
                <a:latin typeface="Arial"/>
                <a:ea typeface="Arial"/>
                <a:cs typeface="Arial"/>
              </a:defRPr>
            </a:pPr>
            <a:r>
              <a:rPr sz="1800" b="1" i="0">
                <a:solidFill>
                  <a:srgbClr val="07162D"/>
                </a:solidFill>
                <a:latin typeface="Arial"/>
                <a:ea typeface="Arial"/>
                <a:cs typeface="Arial"/>
              </a:rPr>
              <a:t>The question for category operations: which comments contain a useful fit cause?</a:t>
            </a:r>
          </a:p>
        </p:txBody>
      </p:sp>
      <p:sp>
        <p:nvSpPr>
          <p:cNvPr id="6" name="">
            <a:extLst xmlns:a="http://schemas.openxmlformats.org/drawingml/2006/main">
              <a:ext uri="{FF2B5EF4-FFF2-40B4-BE49-F238E27FC236}">
                <a16:creationId xmlns:a16="http://schemas.microsoft.com/office/drawing/2014/main" id="{6BF2DF73-407F-473B-9B4A-C98B47B3C44E}"/>
              </a:ext>
            </a:extLst>
          </p:cNvPr>
          <p:cNvSpPr>
            <a:spLocks xmlns:a="http://schemas.openxmlformats.org/drawingml/2006/main" noGrp="1"/>
          </p:cNvSpPr>
          <p:nvPr/>
        </p:nvSpPr>
        <p:spPr>
          <a:xfrm xmlns:a="http://schemas.openxmlformats.org/drawingml/2006/main">
            <a:off x="762000" y="59245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Client-reported baseline and Category Head interview, summarized in the discovery note. The demo uses synthetic records.</a:t>
            </a:r>
          </a:p>
        </p:txBody>
      </p:sp>
      <p:sp>
        <p:nvSpPr>
          <p:cNvPr id="7" name="">
            <a:extLst xmlns:a="http://schemas.openxmlformats.org/drawingml/2006/main">
              <a:ext uri="{FF2B5EF4-FFF2-40B4-BE49-F238E27FC236}">
                <a16:creationId xmlns:a16="http://schemas.microsoft.com/office/drawing/2014/main" id="{534F30F8-C2C7-4694-B89F-FDC27DFB90D7}"/>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01  /  THE PROBLEM · 3 MIN     |     Presenter: [Click to edit name]</a:t>
            </a:r>
          </a:p>
        </p:txBody>
      </p:sp>
    </p:spTree>
    <p:extLst>
      <p:ext uri="{BB962C8B-B14F-4D97-AF65-F5344CB8AC3E}">
        <p14:creationId xmlns:p14="http://schemas.microsoft.com/office/powerpoint/2010/main" val="1395972993"/>
      </p:ext>
    </p:extLst>
  </p:cSld>
</p:sld>
</file>

<file path=ppt/slides/slide2.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0EB8BD9-2540-427D-9573-8EAF258B8666}"/>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02 / BUSINESS CASE · 1 MIN</a:t>
            </a:r>
          </a:p>
        </p:txBody>
      </p:sp>
      <p:sp>
        <p:nvSpPr>
          <p:cNvPr id="2" name="">
            <a:extLst xmlns:a="http://schemas.openxmlformats.org/drawingml/2006/main">
              <a:ext uri="{FF2B5EF4-FFF2-40B4-BE49-F238E27FC236}">
                <a16:creationId xmlns:a16="http://schemas.microsoft.com/office/drawing/2014/main" id="{A9EB293F-C65C-44DC-AD14-E34D8505F1DE}"/>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i="0">
                <a:solidFill>
                  <a:srgbClr val="07162D"/>
                </a:solidFill>
                <a:latin typeface="Arial"/>
                <a:ea typeface="Arial"/>
                <a:cs typeface="Arial"/>
              </a:defRPr>
            </a:pPr>
            <a:r>
              <a:rPr sz="3225" b="1" i="0">
                <a:solidFill>
                  <a:srgbClr val="07162D"/>
                </a:solidFill>
                <a:latin typeface="Arial"/>
                <a:ea typeface="Arial"/>
                <a:cs typeface="Arial"/>
              </a:rPr>
              <a:t>A pilot can measure the hidden workload</a:t>
            </a:r>
          </a:p>
        </p:txBody>
      </p:sp>
      <p:sp>
        <p:nvSpPr>
          <p:cNvPr id="3" name="">
            <a:extLst xmlns:a="http://schemas.openxmlformats.org/drawingml/2006/main">
              <a:ext uri="{FF2B5EF4-FFF2-40B4-BE49-F238E27FC236}">
                <a16:creationId xmlns:a16="http://schemas.microsoft.com/office/drawing/2014/main" id="{5C9AF8A1-DD07-4B67-919A-9107C86D5E94}"/>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02 / Why it matters     |     Presenter: [Click to edit name]</a:t>
            </a:r>
          </a:p>
        </p:txBody>
      </p:sp>
      <p:sp>
        <p:nvSpPr>
          <p:cNvPr id="4" name="">
            <a:extLst xmlns:a="http://schemas.openxmlformats.org/drawingml/2006/main">
              <a:ext uri="{FF2B5EF4-FFF2-40B4-BE49-F238E27FC236}">
                <a16:creationId xmlns:a16="http://schemas.microsoft.com/office/drawing/2014/main" id="{32056411-6DD2-4F84-AFBE-84B888C51BA6}"/>
              </a:ext>
            </a:extLst>
          </p:cNvPr>
          <p:cNvSpPr>
            <a:spLocks xmlns:a="http://schemas.openxmlformats.org/drawingml/2006/main" noGrp="1"/>
          </p:cNvSpPr>
          <p:nvPr/>
        </p:nvSpPr>
        <p:spPr>
          <a:xfrm xmlns:a="http://schemas.openxmlformats.org/drawingml/2006/main">
            <a:off x="742950" y="2000250"/>
            <a:ext cx="238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i="0">
                <a:solidFill>
                  <a:srgbClr val="07162D"/>
                </a:solidFill>
                <a:latin typeface="Arial"/>
                <a:ea typeface="Arial"/>
                <a:cs typeface="Arial"/>
              </a:defRPr>
            </a:pPr>
            <a:r>
              <a:rPr sz="4500" b="1" i="0">
                <a:solidFill>
                  <a:srgbClr val="07162D"/>
                </a:solidFill>
                <a:latin typeface="Arial"/>
                <a:ea typeface="Arial"/>
                <a:cs typeface="Arial"/>
              </a:rPr>
              <a:t>48,000</a:t>
            </a:r>
          </a:p>
        </p:txBody>
      </p:sp>
      <p:sp>
        <p:nvSpPr>
          <p:cNvPr id="5" name="">
            <a:extLst xmlns:a="http://schemas.openxmlformats.org/drawingml/2006/main">
              <a:ext uri="{FF2B5EF4-FFF2-40B4-BE49-F238E27FC236}">
                <a16:creationId xmlns:a16="http://schemas.microsoft.com/office/drawing/2014/main" id="{A3C8E3E8-87B4-437D-90B0-5BDBB9FB81B7}"/>
              </a:ext>
            </a:extLst>
          </p:cNvPr>
          <p:cNvSpPr>
            <a:spLocks xmlns:a="http://schemas.openxmlformats.org/drawingml/2006/main" noGrp="1"/>
          </p:cNvSpPr>
          <p:nvPr/>
        </p:nvSpPr>
        <p:spPr>
          <a:xfrm xmlns:a="http://schemas.openxmlformats.org/drawingml/2006/main">
            <a:off x="781050" y="2781300"/>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weekly orders</a:t>
            </a:r>
          </a:p>
        </p:txBody>
      </p:sp>
      <p:sp>
        <p:nvSpPr>
          <p:cNvPr id="6" name="">
            <a:extLst xmlns:a="http://schemas.openxmlformats.org/drawingml/2006/main">
              <a:ext uri="{FF2B5EF4-FFF2-40B4-BE49-F238E27FC236}">
                <a16:creationId xmlns:a16="http://schemas.microsoft.com/office/drawing/2014/main" id="{C28973C9-6A65-47E2-BC49-A19A63A68C48}"/>
              </a:ext>
            </a:extLst>
          </p:cNvPr>
          <p:cNvSpPr>
            <a:spLocks xmlns:a="http://schemas.openxmlformats.org/drawingml/2006/main" noGrp="1"/>
          </p:cNvSpPr>
          <p:nvPr/>
        </p:nvSpPr>
        <p:spPr>
          <a:xfrm xmlns:a="http://schemas.openxmlformats.org/drawingml/2006/main">
            <a:off x="3429000" y="21526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i="0">
                <a:solidFill>
                  <a:srgbClr val="D744C4"/>
                </a:solidFill>
                <a:latin typeface="Arial"/>
                <a:ea typeface="Arial"/>
                <a:cs typeface="Arial"/>
              </a:defRPr>
            </a:pPr>
            <a:r>
              <a:rPr sz="3300" b="1" i="0">
                <a:solidFill>
                  <a:srgbClr val="D744C4"/>
                </a:solidFill>
                <a:latin typeface="Arial"/>
                <a:ea typeface="Arial"/>
                <a:cs typeface="Arial"/>
              </a:rPr>
              <a:t>× 31%</a:t>
            </a:r>
          </a:p>
        </p:txBody>
      </p:sp>
      <p:sp>
        <p:nvSpPr>
          <p:cNvPr id="7" name="">
            <a:extLst xmlns:a="http://schemas.openxmlformats.org/drawingml/2006/main">
              <a:ext uri="{FF2B5EF4-FFF2-40B4-BE49-F238E27FC236}">
                <a16:creationId xmlns:a16="http://schemas.microsoft.com/office/drawing/2014/main" id="{4FD81C18-006E-40E2-A0CD-D198CE2C2BD8}"/>
              </a:ext>
            </a:extLst>
          </p:cNvPr>
          <p:cNvSpPr>
            <a:spLocks xmlns:a="http://schemas.openxmlformats.org/drawingml/2006/main" noGrp="1"/>
          </p:cNvSpPr>
          <p:nvPr/>
        </p:nvSpPr>
        <p:spPr>
          <a:xfrm xmlns:a="http://schemas.openxmlformats.org/drawingml/2006/main">
            <a:off x="3448050" y="27813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reported return rate</a:t>
            </a:r>
          </a:p>
        </p:txBody>
      </p:sp>
      <p:sp>
        <p:nvSpPr>
          <p:cNvPr id="8" name="">
            <a:extLst xmlns:a="http://schemas.openxmlformats.org/drawingml/2006/main">
              <a:ext uri="{FF2B5EF4-FFF2-40B4-BE49-F238E27FC236}">
                <a16:creationId xmlns:a16="http://schemas.microsoft.com/office/drawing/2014/main" id="{83B91157-2643-48D8-AEE6-5501F95517C4}"/>
              </a:ext>
            </a:extLst>
          </p:cNvPr>
          <p:cNvSpPr>
            <a:spLocks xmlns:a="http://schemas.openxmlformats.org/drawingml/2006/main" noGrp="1"/>
          </p:cNvSpPr>
          <p:nvPr/>
        </p:nvSpPr>
        <p:spPr>
          <a:xfrm xmlns:a="http://schemas.openxmlformats.org/drawingml/2006/main">
            <a:off x="6572250" y="1971675"/>
            <a:ext cx="295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i="0">
                <a:solidFill>
                  <a:srgbClr val="07162D"/>
                </a:solidFill>
                <a:latin typeface="Arial"/>
                <a:ea typeface="Arial"/>
                <a:cs typeface="Arial"/>
              </a:defRPr>
            </a:pPr>
            <a:r>
              <a:rPr sz="4275" b="1" i="0">
                <a:solidFill>
                  <a:srgbClr val="07162D"/>
                </a:solidFill>
                <a:latin typeface="Arial"/>
                <a:ea typeface="Arial"/>
                <a:cs typeface="Arial"/>
              </a:rPr>
              <a:t>≈14,880</a:t>
            </a:r>
          </a:p>
        </p:txBody>
      </p:sp>
      <p:sp>
        <p:nvSpPr>
          <p:cNvPr id="9" name="">
            <a:extLst xmlns:a="http://schemas.openxmlformats.org/drawingml/2006/main">
              <a:ext uri="{FF2B5EF4-FFF2-40B4-BE49-F238E27FC236}">
                <a16:creationId xmlns:a16="http://schemas.microsoft.com/office/drawing/2014/main" id="{E01BDB81-30A7-4EA3-8B37-7FA4271B7CE0}"/>
              </a:ext>
            </a:extLst>
          </p:cNvPr>
          <p:cNvSpPr>
            <a:spLocks xmlns:a="http://schemas.openxmlformats.org/drawingml/2006/main" noGrp="1"/>
          </p:cNvSpPr>
          <p:nvPr/>
        </p:nvSpPr>
        <p:spPr>
          <a:xfrm xmlns:a="http://schemas.openxmlformats.org/drawingml/2006/main">
            <a:off x="6619875" y="27813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returns per week</a:t>
            </a:r>
          </a:p>
        </p:txBody>
      </p:sp>
      <p:sp>
        <p:nvSpPr>
          <p:cNvPr id="10" name="">
            <a:extLst xmlns:a="http://schemas.openxmlformats.org/drawingml/2006/main">
              <a:ext uri="{FF2B5EF4-FFF2-40B4-BE49-F238E27FC236}">
                <a16:creationId xmlns:a16="http://schemas.microsoft.com/office/drawing/2014/main" id="{B7D533EC-DD18-4551-8D72-E3FD3EC3F79B}"/>
              </a:ext>
            </a:extLst>
          </p:cNvPr>
          <p:cNvSpPr>
            <a:spLocks xmlns:a="http://schemas.openxmlformats.org/drawingml/2006/main" noGrp="1"/>
          </p:cNvSpPr>
          <p:nvPr/>
        </p:nvSpPr>
        <p:spPr>
          <a:xfrm xmlns:a="http://schemas.openxmlformats.org/drawingml/2006/main">
            <a:off x="742950" y="352425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D744C4"/>
                </a:solidFill>
                <a:latin typeface="Arial"/>
                <a:ea typeface="Arial"/>
                <a:cs typeface="Arial"/>
              </a:defRPr>
            </a:pPr>
            <a:r>
              <a:rPr sz="2550" b="1" i="0">
                <a:solidFill>
                  <a:srgbClr val="D744C4"/>
                </a:solidFill>
                <a:latin typeface="Arial"/>
                <a:ea typeface="Arial"/>
                <a:cs typeface="Arial"/>
              </a:rPr>
              <a:t>× 44% “Other”</a:t>
            </a:r>
          </a:p>
        </p:txBody>
      </p:sp>
      <p:sp>
        <p:nvSpPr>
          <p:cNvPr id="11" name="">
            <a:extLst xmlns:a="http://schemas.openxmlformats.org/drawingml/2006/main">
              <a:ext uri="{FF2B5EF4-FFF2-40B4-BE49-F238E27FC236}">
                <a16:creationId xmlns:a16="http://schemas.microsoft.com/office/drawing/2014/main" id="{53976B3D-4269-48C6-A4E9-CCEB2B69AE59}"/>
              </a:ext>
            </a:extLst>
          </p:cNvPr>
          <p:cNvSpPr>
            <a:spLocks xmlns:a="http://schemas.openxmlformats.org/drawingml/2006/main" noGrp="1"/>
          </p:cNvSpPr>
          <p:nvPr/>
        </p:nvSpPr>
        <p:spPr>
          <a:xfrm xmlns:a="http://schemas.openxmlformats.org/drawingml/2006/main">
            <a:off x="4286250" y="3571875"/>
            <a:ext cx="709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7162D"/>
                </a:solidFill>
                <a:latin typeface="Arial"/>
                <a:ea typeface="Arial"/>
                <a:cs typeface="Arial"/>
              </a:defRPr>
            </a:pPr>
            <a:r>
              <a:rPr sz="2175" b="1" i="0">
                <a:solidFill>
                  <a:srgbClr val="07162D"/>
                </a:solidFill>
                <a:latin typeface="Arial"/>
                <a:ea typeface="Arial"/>
                <a:cs typeface="Arial"/>
              </a:rPr>
              <a:t>≈6,550 returns per week in the “Other” bucket</a:t>
            </a:r>
          </a:p>
        </p:txBody>
      </p:sp>
      <p:sp>
        <p:nvSpPr>
          <p:cNvPr id="12" name="">
            <a:extLst xmlns:a="http://schemas.openxmlformats.org/drawingml/2006/main">
              <a:ext uri="{FF2B5EF4-FFF2-40B4-BE49-F238E27FC236}">
                <a16:creationId xmlns:a16="http://schemas.microsoft.com/office/drawing/2014/main" id="{B65100D9-DAB0-4060-A76C-3CFA10B8433A}"/>
              </a:ext>
            </a:extLst>
          </p:cNvPr>
          <p:cNvSpPr>
            <a:spLocks xmlns:a="http://schemas.openxmlformats.org/drawingml/2006/main" noGrp="1"/>
          </p:cNvSpPr>
          <p:nvPr/>
        </p:nvSpPr>
        <p:spPr>
          <a:xfrm xmlns:a="http://schemas.openxmlformats.org/drawingml/2006/main">
            <a:off x="762000" y="45243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2B5F86"/>
                </a:solidFill>
                <a:latin typeface="Arial"/>
                <a:ea typeface="Arial"/>
                <a:cs typeface="Arial"/>
              </a:defRPr>
            </a:pPr>
            <a:r>
              <a:rPr sz="1350" b="1" i="0">
                <a:solidFill>
                  <a:srgbClr val="2B5F86"/>
                </a:solidFill>
                <a:latin typeface="Arial"/>
                <a:ea typeface="Arial"/>
                <a:cs typeface="Arial"/>
              </a:rPr>
              <a:t>Business context</a:t>
            </a:r>
          </a:p>
        </p:txBody>
      </p:sp>
      <p:sp>
        <p:nvSpPr>
          <p:cNvPr id="13" name="">
            <a:extLst xmlns:a="http://schemas.openxmlformats.org/drawingml/2006/main">
              <a:ext uri="{FF2B5EF4-FFF2-40B4-BE49-F238E27FC236}">
                <a16:creationId xmlns:a16="http://schemas.microsoft.com/office/drawing/2014/main" id="{5B95AD6D-A95E-4A62-88E1-FF8AEBF1E087}"/>
              </a:ext>
            </a:extLst>
          </p:cNvPr>
          <p:cNvSpPr>
            <a:spLocks xmlns:a="http://schemas.openxmlformats.org/drawingml/2006/main" noGrp="1"/>
          </p:cNvSpPr>
          <p:nvPr/>
        </p:nvSpPr>
        <p:spPr>
          <a:xfrm xmlns:a="http://schemas.openxmlformats.org/drawingml/2006/main">
            <a:off x="2857500" y="4457700"/>
            <a:ext cx="847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Acquisition cost is up 40% year on year; repeat purchase has stayed at 22% for six quarters.</a:t>
            </a:r>
          </a:p>
        </p:txBody>
      </p:sp>
      <p:sp>
        <p:nvSpPr>
          <p:cNvPr id="14" name="">
            <a:extLst xmlns:a="http://schemas.openxmlformats.org/drawingml/2006/main">
              <a:ext uri="{FF2B5EF4-FFF2-40B4-BE49-F238E27FC236}">
                <a16:creationId xmlns:a16="http://schemas.microsoft.com/office/drawing/2014/main" id="{8A4197A1-ABF1-4D0D-9FE2-744EDD55DCD3}"/>
              </a:ext>
            </a:extLst>
          </p:cNvPr>
          <p:cNvSpPr>
            <a:spLocks xmlns:a="http://schemas.openxmlformats.org/drawingml/2006/main" noGrp="1"/>
          </p:cNvSpPr>
          <p:nvPr/>
        </p:nvSpPr>
        <p:spPr>
          <a:xfrm xmlns:a="http://schemas.openxmlformats.org/drawingml/2006/main">
            <a:off x="762000" y="49815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These are client-reported signals, not proof that returns caused acquisition or retention changes. No rupee cost per return was provided.</a:t>
            </a:r>
          </a:p>
        </p:txBody>
      </p:sp>
      <p:sp>
        <p:nvSpPr>
          <p:cNvPr id="15" name="">
            <a:extLst xmlns:a="http://schemas.openxmlformats.org/drawingml/2006/main">
              <a:ext uri="{FF2B5EF4-FFF2-40B4-BE49-F238E27FC236}">
                <a16:creationId xmlns:a16="http://schemas.microsoft.com/office/drawing/2014/main" id="{50E59731-1CA5-457B-8564-14DCDEF24908}"/>
              </a:ext>
            </a:extLst>
          </p:cNvPr>
          <p:cNvSpPr>
            <a:spLocks xmlns:a="http://schemas.openxmlformats.org/drawingml/2006/main" noGrp="1"/>
          </p:cNvSpPr>
          <p:nvPr/>
        </p:nvSpPr>
        <p:spPr>
          <a:xfrm xmlns:a="http://schemas.openxmlformats.org/drawingml/2006/main">
            <a:off x="762000" y="56578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D744C4"/>
                </a:solidFill>
                <a:latin typeface="Arial"/>
                <a:ea typeface="Arial"/>
                <a:cs typeface="Arial"/>
              </a:defRPr>
            </a:pPr>
            <a:r>
              <a:rPr sz="1125" b="1" i="0">
                <a:solidFill>
                  <a:srgbClr val="D744C4"/>
                </a:solidFill>
                <a:latin typeface="Arial"/>
                <a:ea typeface="Arial"/>
                <a:cs typeface="Arial"/>
              </a:rPr>
              <a:t>OUR PILOT MEASURE</a:t>
            </a:r>
          </a:p>
        </p:txBody>
      </p:sp>
      <p:sp>
        <p:nvSpPr>
          <p:cNvPr id="16" name="">
            <a:extLst xmlns:a="http://schemas.openxmlformats.org/drawingml/2006/main">
              <a:ext uri="{FF2B5EF4-FFF2-40B4-BE49-F238E27FC236}">
                <a16:creationId xmlns:a16="http://schemas.microsoft.com/office/drawing/2014/main" id="{9EFA5459-9030-4536-8750-22FC08CA2734}"/>
              </a:ext>
            </a:extLst>
          </p:cNvPr>
          <p:cNvSpPr>
            <a:spLocks xmlns:a="http://schemas.openxmlformats.org/drawingml/2006/main" noGrp="1"/>
          </p:cNvSpPr>
          <p:nvPr/>
        </p:nvSpPr>
        <p:spPr>
          <a:xfrm xmlns:a="http://schemas.openxmlformats.org/drawingml/2006/main">
            <a:off x="2952750" y="55626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i="0">
                <a:solidFill>
                  <a:srgbClr val="07162D"/>
                </a:solidFill>
                <a:latin typeface="Arial"/>
                <a:ea typeface="Arial"/>
                <a:cs typeface="Arial"/>
              </a:defRPr>
            </a:pPr>
            <a:r>
              <a:rPr sz="1425" b="1" i="0">
                <a:solidFill>
                  <a:srgbClr val="07162D"/>
                </a:solidFill>
                <a:latin typeface="Arial"/>
                <a:ea typeface="Arial"/>
                <a:cs typeface="Arial"/>
              </a:rPr>
              <a:t>Category / subcategory accuracy on a human-labeled holdout, with usable-cause coverage and review rate. Agree the pass threshold before scaling.</a:t>
            </a:r>
          </a:p>
        </p:txBody>
      </p:sp>
    </p:spTree>
    <p:extLst>
      <p:ext uri="{BB962C8B-B14F-4D97-AF65-F5344CB8AC3E}">
        <p14:creationId xmlns:p14="http://schemas.microsoft.com/office/powerpoint/2010/main" val="1236581563"/>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47472"/>
            <a:ext cx="10789920" cy="256032"/>
          </a:xfrm>
          <a:prstGeom prst="rect">
            <a:avLst/>
          </a:prstGeom>
          <a:noFill/>
        </p:spPr>
        <p:txBody>
          <a:bodyPr wrap="square" lIns="18288" rIns="18288" tIns="9144" bIns="9144" anchor="ctr">
            <a:normAutofit/>
          </a:bodyPr>
          <a:lstStyle/>
          <a:p>
            <a:pPr algn="l"/>
            <a:r>
              <a:rPr sz="1100" b="1">
                <a:solidFill>
                  <a:srgbClr val="D744C4"/>
                </a:solidFill>
                <a:latin typeface="Arial"/>
              </a:rPr>
              <a:t>03 / RANKED OPPORTUNITY · 1 MIN</a:t>
            </a:r>
          </a:p>
        </p:txBody>
      </p:sp>
      <p:sp>
        <p:nvSpPr>
          <p:cNvPr id="3" name="TextBox 2"/>
          <p:cNvSpPr txBox="1"/>
          <p:nvPr/>
        </p:nvSpPr>
        <p:spPr>
          <a:xfrm>
            <a:off x="685800" y="704088"/>
            <a:ext cx="10789920" cy="566928"/>
          </a:xfrm>
          <a:prstGeom prst="rect">
            <a:avLst/>
          </a:prstGeom>
          <a:noFill/>
        </p:spPr>
        <p:txBody>
          <a:bodyPr wrap="square" lIns="18288" rIns="18288" tIns="9144" bIns="9144" anchor="ctr">
            <a:normAutofit/>
          </a:bodyPr>
          <a:lstStyle/>
          <a:p>
            <a:pPr algn="l"/>
            <a:r>
              <a:rPr sz="2900" b="1">
                <a:solidFill>
                  <a:srgbClr val="07162D"/>
                </a:solidFill>
                <a:latin typeface="Arial"/>
              </a:rPr>
              <a:t>Return root-cause intelligence ranks first</a:t>
            </a:r>
          </a:p>
        </p:txBody>
      </p:sp>
      <p:sp>
        <p:nvSpPr>
          <p:cNvPr id="4" name="TextBox 3"/>
          <p:cNvSpPr txBox="1"/>
          <p:nvPr/>
        </p:nvSpPr>
        <p:spPr>
          <a:xfrm>
            <a:off x="685800" y="6419088"/>
            <a:ext cx="10789920" cy="210312"/>
          </a:xfrm>
          <a:prstGeom prst="rect">
            <a:avLst/>
          </a:prstGeom>
          <a:noFill/>
        </p:spPr>
        <p:txBody>
          <a:bodyPr wrap="square" lIns="18288" rIns="18288" tIns="9144" bIns="9144" anchor="ctr">
            <a:normAutofit/>
          </a:bodyPr>
          <a:lstStyle/>
          <a:p>
            <a:pPr algn="l"/>
            <a:r>
              <a:rPr sz="900" b="0">
                <a:solidFill>
                  <a:srgbClr val="526174"/>
                </a:solidFill>
                <a:latin typeface="Arial"/>
              </a:rPr>
              <a:t>03 / Ranked shortlist     |     Presenter: [Click to edit name]</a:t>
            </a:r>
          </a:p>
        </p:txBody>
      </p:sp>
      <p:sp>
        <p:nvSpPr>
          <p:cNvPr id="5" name="Rectangle 4"/>
          <p:cNvSpPr/>
          <p:nvPr/>
        </p:nvSpPr>
        <p:spPr>
          <a:xfrm>
            <a:off x="658368" y="1444752"/>
            <a:ext cx="822960" cy="475488"/>
          </a:xfrm>
          <a:prstGeom prst="rect">
            <a:avLst/>
          </a:prstGeom>
          <a:solidFill>
            <a:srgbClr val="2B5F86"/>
          </a:solidFill>
          <a:ln w="10160">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00" b="1">
                <a:solidFill>
                  <a:srgbClr val="FFFFFF"/>
                </a:solidFill>
                <a:latin typeface="Arial"/>
              </a:rPr>
              <a:t>Rank</a:t>
            </a:r>
          </a:p>
        </p:txBody>
      </p:sp>
      <p:sp>
        <p:nvSpPr>
          <p:cNvPr id="6" name="Rectangle 5"/>
          <p:cNvSpPr/>
          <p:nvPr/>
        </p:nvSpPr>
        <p:spPr>
          <a:xfrm>
            <a:off x="1481328" y="1444752"/>
            <a:ext cx="2971800" cy="475488"/>
          </a:xfrm>
          <a:prstGeom prst="rect">
            <a:avLst/>
          </a:prstGeom>
          <a:solidFill>
            <a:srgbClr val="2B5F86"/>
          </a:solidFill>
          <a:ln w="10160">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00" b="1">
                <a:solidFill>
                  <a:srgbClr val="FFFFFF"/>
                </a:solidFill>
                <a:latin typeface="Arial"/>
              </a:rPr>
              <a:t>Problem area</a:t>
            </a:r>
          </a:p>
        </p:txBody>
      </p:sp>
      <p:sp>
        <p:nvSpPr>
          <p:cNvPr id="7" name="Rectangle 6"/>
          <p:cNvSpPr/>
          <p:nvPr/>
        </p:nvSpPr>
        <p:spPr>
          <a:xfrm>
            <a:off x="4453128" y="1444752"/>
            <a:ext cx="1005840" cy="475488"/>
          </a:xfrm>
          <a:prstGeom prst="rect">
            <a:avLst/>
          </a:prstGeom>
          <a:solidFill>
            <a:srgbClr val="2B5F86"/>
          </a:solidFill>
          <a:ln w="10160">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00" b="1">
                <a:solidFill>
                  <a:srgbClr val="FFFFFF"/>
                </a:solidFill>
                <a:latin typeface="Arial"/>
              </a:rPr>
              <a:t>Score</a:t>
            </a:r>
          </a:p>
        </p:txBody>
      </p:sp>
      <p:sp>
        <p:nvSpPr>
          <p:cNvPr id="8" name="Rectangle 7"/>
          <p:cNvSpPr/>
          <p:nvPr/>
        </p:nvSpPr>
        <p:spPr>
          <a:xfrm>
            <a:off x="5458968" y="1444752"/>
            <a:ext cx="6172200" cy="475488"/>
          </a:xfrm>
          <a:prstGeom prst="rect">
            <a:avLst/>
          </a:prstGeom>
          <a:solidFill>
            <a:srgbClr val="2B5F86"/>
          </a:solidFill>
          <a:ln w="10160">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00" b="1">
                <a:solidFill>
                  <a:srgbClr val="FFFFFF"/>
                </a:solidFill>
                <a:latin typeface="Arial"/>
              </a:rPr>
              <a:t>Core rationale &amp; evidence</a:t>
            </a:r>
          </a:p>
        </p:txBody>
      </p:sp>
      <p:sp>
        <p:nvSpPr>
          <p:cNvPr id="9" name="Rectangle 8"/>
          <p:cNvSpPr/>
          <p:nvPr/>
        </p:nvSpPr>
        <p:spPr>
          <a:xfrm>
            <a:off x="658368" y="1920240"/>
            <a:ext cx="822960" cy="905256"/>
          </a:xfrm>
          <a:prstGeom prst="rect">
            <a:avLst/>
          </a:prstGeom>
          <a:solidFill>
            <a:srgbClr val="E7F0EB"/>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1">
                <a:solidFill>
                  <a:srgbClr val="07162D"/>
                </a:solidFill>
                <a:latin typeface="Arial"/>
              </a:rPr>
              <a:t>#1</a:t>
            </a:r>
          </a:p>
        </p:txBody>
      </p:sp>
      <p:sp>
        <p:nvSpPr>
          <p:cNvPr id="10" name="Rectangle 9"/>
          <p:cNvSpPr/>
          <p:nvPr/>
        </p:nvSpPr>
        <p:spPr>
          <a:xfrm>
            <a:off x="1481328" y="1920240"/>
            <a:ext cx="297180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200" b="1">
                <a:solidFill>
                  <a:srgbClr val="07162D"/>
                </a:solidFill>
                <a:latin typeface="Arial"/>
              </a:rPr>
              <a:t>Return / Root-Cause Intelligence</a:t>
            </a:r>
          </a:p>
        </p:txBody>
      </p:sp>
      <p:sp>
        <p:nvSpPr>
          <p:cNvPr id="11" name="Rectangle 10"/>
          <p:cNvSpPr/>
          <p:nvPr/>
        </p:nvSpPr>
        <p:spPr>
          <a:xfrm>
            <a:off x="4453128" y="1920240"/>
            <a:ext cx="100584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0">
                <a:solidFill>
                  <a:srgbClr val="07162D"/>
                </a:solidFill>
                <a:latin typeface="Arial"/>
              </a:rPr>
              <a:t>24 / 25</a:t>
            </a:r>
          </a:p>
        </p:txBody>
      </p:sp>
      <p:sp>
        <p:nvSpPr>
          <p:cNvPr id="12" name="Rectangle 11"/>
          <p:cNvSpPr/>
          <p:nvPr/>
        </p:nvSpPr>
        <p:spPr>
          <a:xfrm>
            <a:off x="5458968" y="1920240"/>
            <a:ext cx="617220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050" b="0">
                <a:solidFill>
                  <a:srgbClr val="526174"/>
                </a:solidFill>
                <a:latin typeface="Arial"/>
              </a:rPr>
              <a:t>31% overall returns; 44% in 'Other'; size-chart mismatch; direct link to 22% repeat purchase retention ceiling.</a:t>
            </a:r>
          </a:p>
        </p:txBody>
      </p:sp>
      <p:sp>
        <p:nvSpPr>
          <p:cNvPr id="13" name="Rectangle 12"/>
          <p:cNvSpPr/>
          <p:nvPr/>
        </p:nvSpPr>
        <p:spPr>
          <a:xfrm>
            <a:off x="658368" y="2825496"/>
            <a:ext cx="82296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1">
                <a:solidFill>
                  <a:srgbClr val="07162D"/>
                </a:solidFill>
                <a:latin typeface="Arial"/>
              </a:rPr>
              <a:t>#2</a:t>
            </a:r>
          </a:p>
        </p:txBody>
      </p:sp>
      <p:sp>
        <p:nvSpPr>
          <p:cNvPr id="14" name="Rectangle 13"/>
          <p:cNvSpPr/>
          <p:nvPr/>
        </p:nvSpPr>
        <p:spPr>
          <a:xfrm>
            <a:off x="1481328" y="2825496"/>
            <a:ext cx="297180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200" b="1">
                <a:solidFill>
                  <a:srgbClr val="07162D"/>
                </a:solidFill>
                <a:latin typeface="Arial"/>
              </a:rPr>
              <a:t>SKU / Catalog Go-Live Automation</a:t>
            </a:r>
          </a:p>
        </p:txBody>
      </p:sp>
      <p:sp>
        <p:nvSpPr>
          <p:cNvPr id="15" name="Rectangle 14"/>
          <p:cNvSpPr/>
          <p:nvPr/>
        </p:nvSpPr>
        <p:spPr>
          <a:xfrm>
            <a:off x="4453128" y="2825496"/>
            <a:ext cx="100584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0">
                <a:solidFill>
                  <a:srgbClr val="07162D"/>
                </a:solidFill>
                <a:latin typeface="Arial"/>
              </a:rPr>
              <a:t>23 / 25</a:t>
            </a:r>
          </a:p>
        </p:txBody>
      </p:sp>
      <p:sp>
        <p:nvSpPr>
          <p:cNvPr id="16" name="Rectangle 15"/>
          <p:cNvSpPr/>
          <p:nvPr/>
        </p:nvSpPr>
        <p:spPr>
          <a:xfrm>
            <a:off x="5458968" y="2825496"/>
            <a:ext cx="617220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050" b="0">
                <a:solidFill>
                  <a:srgbClr val="526174"/>
                </a:solidFill>
                <a:latin typeface="Arial"/>
              </a:rPr>
              <a:t>400 new SKUs/week across 40 vendors; manual spreadsheets &amp; WhatsApp threads; 6-9 day sample-to-live delay.</a:t>
            </a:r>
          </a:p>
        </p:txBody>
      </p:sp>
      <p:sp>
        <p:nvSpPr>
          <p:cNvPr id="17" name="Rectangle 16"/>
          <p:cNvSpPr/>
          <p:nvPr/>
        </p:nvSpPr>
        <p:spPr>
          <a:xfrm>
            <a:off x="658368" y="3730752"/>
            <a:ext cx="82296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1">
                <a:solidFill>
                  <a:srgbClr val="07162D"/>
                </a:solidFill>
                <a:latin typeface="Arial"/>
              </a:rPr>
              <a:t>#3</a:t>
            </a:r>
          </a:p>
        </p:txBody>
      </p:sp>
      <p:sp>
        <p:nvSpPr>
          <p:cNvPr id="18" name="Rectangle 17"/>
          <p:cNvSpPr/>
          <p:nvPr/>
        </p:nvSpPr>
        <p:spPr>
          <a:xfrm>
            <a:off x="1481328" y="3730752"/>
            <a:ext cx="297180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200" b="1">
                <a:solidFill>
                  <a:srgbClr val="07162D"/>
                </a:solidFill>
                <a:latin typeface="Arial"/>
              </a:rPr>
              <a:t>Customer Support Intelligence</a:t>
            </a:r>
          </a:p>
        </p:txBody>
      </p:sp>
      <p:sp>
        <p:nvSpPr>
          <p:cNvPr id="19" name="Rectangle 18"/>
          <p:cNvSpPr/>
          <p:nvPr/>
        </p:nvSpPr>
        <p:spPr>
          <a:xfrm>
            <a:off x="4453128" y="3730752"/>
            <a:ext cx="100584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0">
                <a:solidFill>
                  <a:srgbClr val="07162D"/>
                </a:solidFill>
                <a:latin typeface="Arial"/>
              </a:rPr>
              <a:t>24 / 25</a:t>
            </a:r>
          </a:p>
        </p:txBody>
      </p:sp>
      <p:sp>
        <p:nvSpPr>
          <p:cNvPr id="20" name="Rectangle 19"/>
          <p:cNvSpPr/>
          <p:nvPr/>
        </p:nvSpPr>
        <p:spPr>
          <a:xfrm>
            <a:off x="5458968" y="3730752"/>
            <a:ext cx="617220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050" b="0">
                <a:solidFill>
                  <a:srgbClr val="526174"/>
                </a:solidFill>
                <a:latin typeface="Arial"/>
              </a:rPr>
              <a:t>9,000 weekly tickets; 58% WISMO inquiries; 34 agents bogged down by copy-pasting canned replies.</a:t>
            </a:r>
          </a:p>
        </p:txBody>
      </p:sp>
      <p:sp>
        <p:nvSpPr>
          <p:cNvPr id="21" name="Rectangle 20"/>
          <p:cNvSpPr/>
          <p:nvPr/>
        </p:nvSpPr>
        <p:spPr>
          <a:xfrm>
            <a:off x="658368" y="4636008"/>
            <a:ext cx="82296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1">
                <a:solidFill>
                  <a:srgbClr val="07162D"/>
                </a:solidFill>
                <a:latin typeface="Arial"/>
              </a:rPr>
              <a:t>#4</a:t>
            </a:r>
          </a:p>
        </p:txBody>
      </p:sp>
      <p:sp>
        <p:nvSpPr>
          <p:cNvPr id="22" name="Rectangle 21"/>
          <p:cNvSpPr/>
          <p:nvPr/>
        </p:nvSpPr>
        <p:spPr>
          <a:xfrm>
            <a:off x="1481328" y="4636008"/>
            <a:ext cx="297180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200" b="1">
                <a:solidFill>
                  <a:srgbClr val="07162D"/>
                </a:solidFill>
                <a:latin typeface="Arial"/>
              </a:rPr>
              <a:t>Customer / Product Analytics Intelligence</a:t>
            </a:r>
          </a:p>
        </p:txBody>
      </p:sp>
      <p:sp>
        <p:nvSpPr>
          <p:cNvPr id="23" name="Rectangle 22"/>
          <p:cNvSpPr/>
          <p:nvPr/>
        </p:nvSpPr>
        <p:spPr>
          <a:xfrm>
            <a:off x="4453128" y="4636008"/>
            <a:ext cx="100584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0">
                <a:solidFill>
                  <a:srgbClr val="07162D"/>
                </a:solidFill>
                <a:latin typeface="Arial"/>
              </a:rPr>
              <a:t>20 / 25</a:t>
            </a:r>
          </a:p>
        </p:txBody>
      </p:sp>
      <p:sp>
        <p:nvSpPr>
          <p:cNvPr id="24" name="Rectangle 23"/>
          <p:cNvSpPr/>
          <p:nvPr/>
        </p:nvSpPr>
        <p:spPr>
          <a:xfrm>
            <a:off x="5458968" y="4636008"/>
            <a:ext cx="617220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050" b="0">
                <a:solidFill>
                  <a:srgbClr val="526174"/>
                </a:solidFill>
                <a:latin typeface="Arial"/>
              </a:rPr>
              <a:t>410,000 unanalyzed reviews; 2-week analyst queue in Metabase; valuable but downstream from active bleed.</a:t>
            </a:r>
          </a:p>
        </p:txBody>
      </p:sp>
      <p:sp>
        <p:nvSpPr>
          <p:cNvPr id="25" name="TextBox 24"/>
          <p:cNvSpPr txBox="1"/>
          <p:nvPr/>
        </p:nvSpPr>
        <p:spPr>
          <a:xfrm>
            <a:off x="713232" y="5715000"/>
            <a:ext cx="10789920" cy="438912"/>
          </a:xfrm>
          <a:prstGeom prst="rect">
            <a:avLst/>
          </a:prstGeom>
          <a:noFill/>
        </p:spPr>
        <p:txBody>
          <a:bodyPr wrap="square" lIns="18288" rIns="18288" tIns="9144" bIns="9144" anchor="ctr">
            <a:normAutofit/>
          </a:bodyPr>
          <a:lstStyle/>
          <a:p>
            <a:pPr algn="l"/>
            <a:r>
              <a:rPr sz="1000" b="0">
                <a:solidFill>
                  <a:srgbClr val="526174"/>
                </a:solidFill>
                <a:latin typeface="Arial"/>
              </a:rPr>
              <a:t>Client-supplied ranking, scores and rationale reproduced as provided; validate source data and any causal interpretation during discovery.</a:t>
            </a:r>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1618A2-B9B0-4738-B845-3FFDECF8755F}"/>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04 / DASHBOARD · 1 MIN</a:t>
            </a:r>
          </a:p>
        </p:txBody>
      </p:sp>
      <p:sp>
        <p:nvSpPr>
          <p:cNvPr id="2" name="">
            <a:extLst xmlns:a="http://schemas.openxmlformats.org/drawingml/2006/main">
              <a:ext uri="{FF2B5EF4-FFF2-40B4-BE49-F238E27FC236}">
                <a16:creationId xmlns:a16="http://schemas.microsoft.com/office/drawing/2014/main" id="{20EC09FD-C107-4316-9547-BE5A02E80873}"/>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What the updated dashboard now shows</a:t>
            </a:r>
          </a:p>
        </p:txBody>
      </p:sp>
      <p:sp>
        <p:nvSpPr>
          <p:cNvPr id="3" name="">
            <a:extLst xmlns:a="http://schemas.openxmlformats.org/drawingml/2006/main">
              <a:ext uri="{FF2B5EF4-FFF2-40B4-BE49-F238E27FC236}">
                <a16:creationId xmlns:a16="http://schemas.microsoft.com/office/drawing/2014/main" id="{1479FFEB-BB4A-4DD5-AF04-B1AF7B83CA52}"/>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04 / Dashboard     |     Presenter: [Click to edit name]</a:t>
            </a:r>
          </a:p>
        </p:txBody>
      </p:sp>
      <p:sp>
        <p:nvSpPr>
          <p:cNvPr id="4" name="">
            <a:extLst xmlns:a="http://schemas.openxmlformats.org/drawingml/2006/main">
              <a:ext uri="{FF2B5EF4-FFF2-40B4-BE49-F238E27FC236}">
                <a16:creationId xmlns:a16="http://schemas.microsoft.com/office/drawing/2014/main" id="{1D71B23A-CA83-4F24-B114-0E2F97BBBC49}"/>
              </a:ext>
            </a:extLst>
          </p:cNvPr>
          <p:cNvSpPr>
            <a:spLocks xmlns:a="http://schemas.openxmlformats.org/drawingml/2006/main" noGrp="1"/>
          </p:cNvSpPr>
          <p:nvPr/>
        </p:nvSpPr>
        <p:spPr>
          <a:xfrm xmlns:a="http://schemas.openxmlformats.org/drawingml/2006/main">
            <a:off x="781050" y="19526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87D2B70-3C48-431F-8E28-B46C6A1B0B6E}"/>
              </a:ext>
            </a:extLst>
          </p:cNvPr>
          <p:cNvSpPr>
            <a:spLocks xmlns:a="http://schemas.openxmlformats.org/drawingml/2006/main" noGrp="1"/>
          </p:cNvSpPr>
          <p:nvPr/>
        </p:nvSpPr>
        <p:spPr>
          <a:xfrm xmlns:a="http://schemas.openxmlformats.org/drawingml/2006/main">
            <a:off x="1619250" y="19526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AI-only source-Other diagnosis</a:t>
            </a:r>
          </a:p>
        </p:txBody>
      </p:sp>
      <p:sp>
        <p:nvSpPr>
          <p:cNvPr id="6" name="">
            <a:extLst xmlns:a="http://schemas.openxmlformats.org/drawingml/2006/main">
              <a:ext uri="{FF2B5EF4-FFF2-40B4-BE49-F238E27FC236}">
                <a16:creationId xmlns:a16="http://schemas.microsoft.com/office/drawing/2014/main" id="{42A96F39-43A8-4976-84E1-F9BB0D7E1B06}"/>
              </a:ext>
            </a:extLst>
          </p:cNvPr>
          <p:cNvSpPr>
            <a:spLocks xmlns:a="http://schemas.openxmlformats.org/drawingml/2006/main" noGrp="1"/>
          </p:cNvSpPr>
          <p:nvPr/>
        </p:nvSpPr>
        <p:spPr>
          <a:xfrm xmlns:a="http://schemas.openxmlformats.org/drawingml/2006/main">
            <a:off x="1619250" y="23717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Only latest AI predictions not sent for human review appear. Pending and reviewed cases are excluded from diagnosis and eligible coverage.</a:t>
            </a:r>
          </a:p>
        </p:txBody>
      </p:sp>
      <p:sp>
        <p:nvSpPr>
          <p:cNvPr id="7" name="">
            <a:extLst xmlns:a="http://schemas.openxmlformats.org/drawingml/2006/main">
              <a:ext uri="{FF2B5EF4-FFF2-40B4-BE49-F238E27FC236}">
                <a16:creationId xmlns:a16="http://schemas.microsoft.com/office/drawing/2014/main" id="{2950ACCA-12FE-45CB-92DB-50BD2106D47B}"/>
              </a:ext>
            </a:extLst>
          </p:cNvPr>
          <p:cNvSpPr>
            <a:spLocks xmlns:a="http://schemas.openxmlformats.org/drawingml/2006/main" noGrp="1"/>
          </p:cNvSpPr>
          <p:nvPr/>
        </p:nvSpPr>
        <p:spPr>
          <a:xfrm xmlns:a="http://schemas.openxmlformats.org/drawingml/2006/main">
            <a:off x="781050" y="32099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661D6EC-5D35-41DD-A355-E33D6E7F9A65}"/>
              </a:ext>
            </a:extLst>
          </p:cNvPr>
          <p:cNvSpPr>
            <a:spLocks xmlns:a="http://schemas.openxmlformats.org/drawingml/2006/main" noGrp="1"/>
          </p:cNvSpPr>
          <p:nvPr/>
        </p:nvSpPr>
        <p:spPr>
          <a:xfrm xmlns:a="http://schemas.openxmlformats.org/drawingml/2006/main">
            <a:off x="1619250" y="32099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Vendor rates plus return-share pie</a:t>
            </a:r>
          </a:p>
        </p:txBody>
      </p:sp>
      <p:sp>
        <p:nvSpPr>
          <p:cNvPr id="9" name="">
            <a:extLst xmlns:a="http://schemas.openxmlformats.org/drawingml/2006/main">
              <a:ext uri="{FF2B5EF4-FFF2-40B4-BE49-F238E27FC236}">
                <a16:creationId xmlns:a16="http://schemas.microsoft.com/office/drawing/2014/main" id="{C565A08E-D98C-4E7D-B294-0205E4C2A5DE}"/>
              </a:ext>
            </a:extLst>
          </p:cNvPr>
          <p:cNvSpPr>
            <a:spLocks xmlns:a="http://schemas.openxmlformats.org/drawingml/2006/main" noGrp="1"/>
          </p:cNvSpPr>
          <p:nvPr/>
        </p:nvSpPr>
        <p:spPr>
          <a:xfrm xmlns:a="http://schemas.openxmlformats.org/drawingml/2006/main">
            <a:off x="1619250" y="36290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The rate ranking stays returned units / sold units. A separate pie shows each listed vendor's returned-unit share; omitted vendors are grouped as Others.</a:t>
            </a:r>
          </a:p>
        </p:txBody>
      </p:sp>
      <p:sp>
        <p:nvSpPr>
          <p:cNvPr id="10" name="">
            <a:extLst xmlns:a="http://schemas.openxmlformats.org/drawingml/2006/main">
              <a:ext uri="{FF2B5EF4-FFF2-40B4-BE49-F238E27FC236}">
                <a16:creationId xmlns:a16="http://schemas.microsoft.com/office/drawing/2014/main" id="{5080346F-2049-421C-A5D4-E30F8ECCCC1F}"/>
              </a:ext>
            </a:extLst>
          </p:cNvPr>
          <p:cNvSpPr>
            <a:spLocks xmlns:a="http://schemas.openxmlformats.org/drawingml/2006/main" noGrp="1"/>
          </p:cNvSpPr>
          <p:nvPr/>
        </p:nvSpPr>
        <p:spPr>
          <a:xfrm xmlns:a="http://schemas.openxmlformats.org/drawingml/2006/main">
            <a:off x="781050" y="44672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831335B-1939-48F5-9808-F23B116B8F10}"/>
              </a:ext>
            </a:extLst>
          </p:cNvPr>
          <p:cNvSpPr>
            <a:spLocks xmlns:a="http://schemas.openxmlformats.org/drawingml/2006/main" noGrp="1"/>
          </p:cNvSpPr>
          <p:nvPr/>
        </p:nvSpPr>
        <p:spPr>
          <a:xfrm xmlns:a="http://schemas.openxmlformats.org/drawingml/2006/main">
            <a:off x="1619250" y="44672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SKU issue drivers</a:t>
            </a:r>
          </a:p>
        </p:txBody>
      </p:sp>
      <p:sp>
        <p:nvSpPr>
          <p:cNvPr id="12" name="">
            <a:extLst xmlns:a="http://schemas.openxmlformats.org/drawingml/2006/main">
              <a:ext uri="{FF2B5EF4-FFF2-40B4-BE49-F238E27FC236}">
                <a16:creationId xmlns:a16="http://schemas.microsoft.com/office/drawing/2014/main" id="{C69E04D4-AABA-44AA-959A-E57D9C2513B9}"/>
              </a:ext>
            </a:extLst>
          </p:cNvPr>
          <p:cNvSpPr>
            <a:spLocks xmlns:a="http://schemas.openxmlformats.org/drawingml/2006/main" noGrp="1"/>
          </p:cNvSpPr>
          <p:nvPr/>
        </p:nvSpPr>
        <p:spPr>
          <a:xfrm xmlns:a="http://schemas.openxmlformats.org/drawingml/2006/main">
            <a:off x="1619250" y="48863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Latest AI issue mix and top-return SKUs guide investigation; return rates are distinct returns per selling order.</a:t>
            </a:r>
          </a:p>
        </p:txBody>
      </p:sp>
      <p:sp>
        <p:nvSpPr>
          <p:cNvPr id="13" name="">
            <a:extLst xmlns:a="http://schemas.openxmlformats.org/drawingml/2006/main">
              <a:ext uri="{FF2B5EF4-FFF2-40B4-BE49-F238E27FC236}">
                <a16:creationId xmlns:a16="http://schemas.microsoft.com/office/drawing/2014/main" id="{B49EED7F-8DB5-4B4A-8096-329D24DEE7B0}"/>
              </a:ext>
            </a:extLst>
          </p:cNvPr>
          <p:cNvSpPr>
            <a:spLocks xmlns:a="http://schemas.openxmlformats.org/drawingml/2006/main" noGrp="1"/>
          </p:cNvSpPr>
          <p:nvPr/>
        </p:nvSpPr>
        <p:spPr>
          <a:xfrm xmlns:a="http://schemas.openxmlformats.org/drawingml/2006/main">
            <a:off x="781050" y="5772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1" i="0">
                <a:solidFill>
                  <a:srgbClr val="2B5F86"/>
                </a:solidFill>
                <a:latin typeface="Arial"/>
                <a:ea typeface="Arial"/>
                <a:cs typeface="Arial"/>
              </a:defRPr>
            </a:pPr>
            <a:r>
              <a:rPr sz="1575" b="1" i="0">
                <a:solidFill>
                  <a:srgbClr val="2B5F86"/>
                </a:solidFill>
                <a:latin typeface="Arial"/>
                <a:ea typeface="Arial"/>
                <a:cs typeface="Arial"/>
              </a:rPr>
              <a:t>NEXT: agree on a de-identified sample, human-labeled holdout, and pass criteria before using Dhaga data.</a:t>
            </a:r>
          </a:p>
        </p:txBody>
      </p:sp>
    </p:spTree>
    <p:extLst>
      <p:ext uri="{BB962C8B-B14F-4D97-AF65-F5344CB8AC3E}">
        <p14:creationId xmlns:p14="http://schemas.microsoft.com/office/powerpoint/2010/main" val="1243568854"/>
      </p:ext>
    </p:extLst>
  </p:cSld>
</p:sld>
</file>

<file path=ppt/slides/slide5.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AE146B7-765B-44AD-9657-C0CD79D63168}"/>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05 / PREVIEW DEMO · 1.5 MIN</a:t>
            </a:r>
          </a:p>
        </p:txBody>
      </p:sp>
      <p:sp>
        <p:nvSpPr>
          <p:cNvPr id="2" name="">
            <a:extLst xmlns:a="http://schemas.openxmlformats.org/drawingml/2006/main">
              <a:ext uri="{FF2B5EF4-FFF2-40B4-BE49-F238E27FC236}">
                <a16:creationId xmlns:a16="http://schemas.microsoft.com/office/drawing/2014/main" id="{A239A8E7-31A6-4C2E-807A-82F39E93E204}"/>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i="0">
                <a:solidFill>
                  <a:srgbClr val="07162D"/>
                </a:solidFill>
                <a:latin typeface="Arial"/>
                <a:ea typeface="Arial"/>
                <a:cs typeface="Arial"/>
              </a:defRPr>
            </a:pPr>
            <a:r>
              <a:rPr sz="3225" b="1" i="0">
                <a:solidFill>
                  <a:srgbClr val="07162D"/>
                </a:solidFill>
                <a:latin typeface="Arial"/>
                <a:ea typeface="Arial"/>
                <a:cs typeface="Arial"/>
              </a:rPr>
              <a:t>See the current workflow on Preview</a:t>
            </a:r>
          </a:p>
        </p:txBody>
      </p:sp>
      <p:sp>
        <p:nvSpPr>
          <p:cNvPr id="3" name="">
            <a:extLst xmlns:a="http://schemas.openxmlformats.org/drawingml/2006/main">
              <a:ext uri="{FF2B5EF4-FFF2-40B4-BE49-F238E27FC236}">
                <a16:creationId xmlns:a16="http://schemas.microsoft.com/office/drawing/2014/main" id="{B8B1E303-3895-498B-894E-C8DEF082EE45}"/>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05 / Preview demo     |     Presenter: [Click to edit name]</a:t>
            </a:r>
          </a:p>
        </p:txBody>
      </p:sp>
      <p:sp>
        <p:nvSpPr>
          <p:cNvPr id="4" name="">
            <a:extLst xmlns:a="http://schemas.openxmlformats.org/drawingml/2006/main">
              <a:ext uri="{FF2B5EF4-FFF2-40B4-BE49-F238E27FC236}">
                <a16:creationId xmlns:a16="http://schemas.microsoft.com/office/drawing/2014/main" id="{CE723245-465E-410F-8688-9391FBF7A521}"/>
              </a:ext>
            </a:extLst>
          </p:cNvPr>
          <p:cNvSpPr>
            <a:spLocks xmlns:a="http://schemas.openxmlformats.org/drawingml/2006/main" noGrp="1"/>
          </p:cNvSpPr>
          <p:nvPr/>
        </p:nvSpPr>
        <p:spPr>
          <a:xfrm xmlns:a="http://schemas.openxmlformats.org/drawingml/2006/main">
            <a:off x="781050" y="1809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D744C4"/>
                </a:solidFill>
                <a:latin typeface="Arial"/>
                <a:ea typeface="Arial"/>
                <a:cs typeface="Arial"/>
              </a:defRPr>
            </a:pPr>
            <a:r>
              <a:rPr sz="1125" b="1" i="0">
                <a:solidFill>
                  <a:srgbClr val="D744C4"/>
                </a:solidFill>
                <a:latin typeface="Arial"/>
                <a:ea typeface="Arial"/>
                <a:cs typeface="Arial"/>
              </a:rPr>
              <a:t>OPEN PREVIEW</a:t>
            </a:r>
          </a:p>
        </p:txBody>
      </p:sp>
      <p:sp>
        <p:nvSpPr>
          <p:cNvPr id="5" name="">
            <a:extLst xmlns:a="http://schemas.openxmlformats.org/drawingml/2006/main">
              <a:ext uri="{FF2B5EF4-FFF2-40B4-BE49-F238E27FC236}">
                <a16:creationId xmlns:a16="http://schemas.microsoft.com/office/drawing/2014/main" id="{38F5B5F2-411D-46FB-9BA5-334A020545FC}"/>
              </a:ext>
            </a:extLst>
          </p:cNvPr>
          <p:cNvSpPr>
            <a:spLocks xmlns:a="http://schemas.openxmlformats.org/drawingml/2006/main" noGrp="1"/>
          </p:cNvSpPr>
          <p:nvPr/>
        </p:nvSpPr>
        <p:spPr>
          <a:xfrm xmlns:a="http://schemas.openxmlformats.org/drawingml/2006/main">
            <a:off x="781050" y="2133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725" b="1" i="0" u="sng">
                <a:solidFill>
                  <a:srgbClr val="2B5F86"/>
                </a:solidFill>
                <a:latin typeface="Arial"/>
                <a:ea typeface="Arial"/>
                <a:cs typeface="Arial"/>
              </a:defRPr>
            </a:pPr>
            <a:r>
              <a:rPr sz="1725" b="1" u="none">
                <a:solidFill>
                  <a:srgbClr val="07162D"/>
                </a:solidFill>
                <a:latin typeface="Arial"/>
                <a:ea typeface="Arial"/>
                <a:cs typeface="Arial"/>
              </a:rPr>
              <a:t>Use the audit-updates Preview URL supplied for the session.</a:t>
            </a:r>
          </a:p>
        </p:txBody>
      </p:sp>
      <p:sp>
        <p:nvSpPr>
          <p:cNvPr id="6" name="">
            <a:extLst xmlns:a="http://schemas.openxmlformats.org/drawingml/2006/main">
              <a:ext uri="{FF2B5EF4-FFF2-40B4-BE49-F238E27FC236}">
                <a16:creationId xmlns:a16="http://schemas.microsoft.com/office/drawing/2014/main" id="{6F868FBA-E5A9-424A-AED2-800B6DE322AA}"/>
              </a:ext>
            </a:extLst>
          </p:cNvPr>
          <p:cNvSpPr>
            <a:spLocks xmlns:a="http://schemas.openxmlformats.org/drawingml/2006/main" noGrp="1"/>
          </p:cNvSpPr>
          <p:nvPr/>
        </p:nvSpPr>
        <p:spPr>
          <a:xfrm xmlns:a="http://schemas.openxmlformats.org/drawingml/2006/main">
            <a:off x="809625" y="28765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0:00</a:t>
            </a:r>
          </a:p>
        </p:txBody>
      </p:sp>
      <p:sp>
        <p:nvSpPr>
          <p:cNvPr id="7" name="">
            <a:extLst xmlns:a="http://schemas.openxmlformats.org/drawingml/2006/main">
              <a:ext uri="{FF2B5EF4-FFF2-40B4-BE49-F238E27FC236}">
                <a16:creationId xmlns:a16="http://schemas.microsoft.com/office/drawing/2014/main" id="{40ECE509-0981-4A8E-AC61-DF68664171F1}"/>
              </a:ext>
            </a:extLst>
          </p:cNvPr>
          <p:cNvSpPr>
            <a:spLocks xmlns:a="http://schemas.openxmlformats.org/drawingml/2006/main" noGrp="1"/>
          </p:cNvSpPr>
          <p:nvPr/>
        </p:nvSpPr>
        <p:spPr>
          <a:xfrm xmlns:a="http://schemas.openxmlformats.org/drawingml/2006/main">
            <a:off x="1885950" y="28765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Check the Preview API status before showing records.</a:t>
            </a:r>
          </a:p>
        </p:txBody>
      </p:sp>
      <p:sp>
        <p:nvSpPr>
          <p:cNvPr id="8" name="">
            <a:extLst xmlns:a="http://schemas.openxmlformats.org/drawingml/2006/main">
              <a:ext uri="{FF2B5EF4-FFF2-40B4-BE49-F238E27FC236}">
                <a16:creationId xmlns:a16="http://schemas.microsoft.com/office/drawing/2014/main" id="{08A2A5C9-87F4-4CC3-848D-ADA6BB190B76}"/>
              </a:ext>
            </a:extLst>
          </p:cNvPr>
          <p:cNvSpPr>
            <a:spLocks xmlns:a="http://schemas.openxmlformats.org/drawingml/2006/main" noGrp="1"/>
          </p:cNvSpPr>
          <p:nvPr/>
        </p:nvSpPr>
        <p:spPr>
          <a:xfrm xmlns:a="http://schemas.openxmlformats.org/drawingml/2006/main">
            <a:off x="809625" y="3457575"/>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0:20</a:t>
            </a:r>
          </a:p>
        </p:txBody>
      </p:sp>
      <p:sp>
        <p:nvSpPr>
          <p:cNvPr id="9" name="">
            <a:extLst xmlns:a="http://schemas.openxmlformats.org/drawingml/2006/main">
              <a:ext uri="{FF2B5EF4-FFF2-40B4-BE49-F238E27FC236}">
                <a16:creationId xmlns:a16="http://schemas.microsoft.com/office/drawing/2014/main" id="{471B1CBC-F0D1-4E3C-8F2B-FE84FFE6807A}"/>
              </a:ext>
            </a:extLst>
          </p:cNvPr>
          <p:cNvSpPr>
            <a:spLocks xmlns:a="http://schemas.openxmlformats.org/drawingml/2006/main" noGrp="1"/>
          </p:cNvSpPr>
          <p:nvPr/>
        </p:nvSpPr>
        <p:spPr>
          <a:xfrm xmlns:a="http://schemas.openxmlformats.org/drawingml/2006/main">
            <a:off x="1885950" y="34575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Other view: AI-resolved diagnoses only; review cases excluded.</a:t>
            </a:r>
          </a:p>
        </p:txBody>
      </p:sp>
      <p:sp>
        <p:nvSpPr>
          <p:cNvPr id="10" name="">
            <a:extLst xmlns:a="http://schemas.openxmlformats.org/drawingml/2006/main">
              <a:ext uri="{FF2B5EF4-FFF2-40B4-BE49-F238E27FC236}">
                <a16:creationId xmlns:a16="http://schemas.microsoft.com/office/drawing/2014/main" id="{122A7433-4C5C-4FF9-99EC-B8BD238D4193}"/>
              </a:ext>
            </a:extLst>
          </p:cNvPr>
          <p:cNvSpPr>
            <a:spLocks xmlns:a="http://schemas.openxmlformats.org/drawingml/2006/main" noGrp="1"/>
          </p:cNvSpPr>
          <p:nvPr/>
        </p:nvSpPr>
        <p:spPr>
          <a:xfrm xmlns:a="http://schemas.openxmlformats.org/drawingml/2006/main">
            <a:off x="809625" y="403860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0:40</a:t>
            </a:r>
          </a:p>
        </p:txBody>
      </p:sp>
      <p:sp>
        <p:nvSpPr>
          <p:cNvPr id="11" name="">
            <a:extLst xmlns:a="http://schemas.openxmlformats.org/drawingml/2006/main">
              <a:ext uri="{FF2B5EF4-FFF2-40B4-BE49-F238E27FC236}">
                <a16:creationId xmlns:a16="http://schemas.microsoft.com/office/drawing/2014/main" id="{21C90144-B4E9-4F1B-AD53-153E17890E6A}"/>
              </a:ext>
            </a:extLst>
          </p:cNvPr>
          <p:cNvSpPr>
            <a:spLocks xmlns:a="http://schemas.openxmlformats.org/drawingml/2006/main" noGrp="1"/>
          </p:cNvSpPr>
          <p:nvPr/>
        </p:nvSpPr>
        <p:spPr>
          <a:xfrm xmlns:a="http://schemas.openxmlformats.org/drawingml/2006/main">
            <a:off x="1885950" y="40386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Vendors: rate ranking plus returned-unit share pie.</a:t>
            </a:r>
          </a:p>
        </p:txBody>
      </p:sp>
      <p:sp>
        <p:nvSpPr>
          <p:cNvPr id="12" name="">
            <a:extLst xmlns:a="http://schemas.openxmlformats.org/drawingml/2006/main">
              <a:ext uri="{FF2B5EF4-FFF2-40B4-BE49-F238E27FC236}">
                <a16:creationId xmlns:a16="http://schemas.microsoft.com/office/drawing/2014/main" id="{C252F8B8-D3D7-48F7-A286-442B1055C80D}"/>
              </a:ext>
            </a:extLst>
          </p:cNvPr>
          <p:cNvSpPr>
            <a:spLocks xmlns:a="http://schemas.openxmlformats.org/drawingml/2006/main" noGrp="1"/>
          </p:cNvSpPr>
          <p:nvPr/>
        </p:nvSpPr>
        <p:spPr>
          <a:xfrm xmlns:a="http://schemas.openxmlformats.org/drawingml/2006/main">
            <a:off x="809625" y="4619625"/>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1:00</a:t>
            </a:r>
          </a:p>
        </p:txBody>
      </p:sp>
      <p:sp>
        <p:nvSpPr>
          <p:cNvPr id="13" name="">
            <a:extLst xmlns:a="http://schemas.openxmlformats.org/drawingml/2006/main">
              <a:ext uri="{FF2B5EF4-FFF2-40B4-BE49-F238E27FC236}">
                <a16:creationId xmlns:a16="http://schemas.microsoft.com/office/drawing/2014/main" id="{6A35FCB2-024C-481D-B000-B0938D53FA6E}"/>
              </a:ext>
            </a:extLst>
          </p:cNvPr>
          <p:cNvSpPr>
            <a:spLocks xmlns:a="http://schemas.openxmlformats.org/drawingml/2006/main" noGrp="1"/>
          </p:cNvSpPr>
          <p:nvPr/>
        </p:nvSpPr>
        <p:spPr>
          <a:xfrm xmlns:a="http://schemas.openxmlformats.org/drawingml/2006/main">
            <a:off x="1885950" y="46196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SKU drivers: issue mix and return-ranked products.</a:t>
            </a:r>
          </a:p>
        </p:txBody>
      </p:sp>
      <p:sp>
        <p:nvSpPr>
          <p:cNvPr id="14" name="">
            <a:extLst xmlns:a="http://schemas.openxmlformats.org/drawingml/2006/main">
              <a:ext uri="{FF2B5EF4-FFF2-40B4-BE49-F238E27FC236}">
                <a16:creationId xmlns:a16="http://schemas.microsoft.com/office/drawing/2014/main" id="{FD9F1207-0EBC-4A9D-BCDB-69A6D9E3BE1C}"/>
              </a:ext>
            </a:extLst>
          </p:cNvPr>
          <p:cNvSpPr>
            <a:spLocks xmlns:a="http://schemas.openxmlformats.org/drawingml/2006/main" noGrp="1"/>
          </p:cNvSpPr>
          <p:nvPr/>
        </p:nvSpPr>
        <p:spPr>
          <a:xfrm xmlns:a="http://schemas.openxmlformats.org/drawingml/2006/main">
            <a:off x="809625" y="52006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1:15</a:t>
            </a:r>
          </a:p>
        </p:txBody>
      </p:sp>
      <p:sp>
        <p:nvSpPr>
          <p:cNvPr id="15" name="">
            <a:extLst xmlns:a="http://schemas.openxmlformats.org/drawingml/2006/main">
              <a:ext uri="{FF2B5EF4-FFF2-40B4-BE49-F238E27FC236}">
                <a16:creationId xmlns:a16="http://schemas.microsoft.com/office/drawing/2014/main" id="{C18AFCB6-8BCB-482A-A0DF-9D087004475F}"/>
              </a:ext>
            </a:extLst>
          </p:cNvPr>
          <p:cNvSpPr>
            <a:spLocks xmlns:a="http://schemas.openxmlformats.org/drawingml/2006/main" noGrp="1"/>
          </p:cNvSpPr>
          <p:nvPr/>
        </p:nvSpPr>
        <p:spPr>
          <a:xfrm xmlns:a="http://schemas.openxmlformats.org/drawingml/2006/main">
            <a:off x="1885950" y="5200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Open the pending queue, show batch classification, then return.</a:t>
            </a:r>
          </a:p>
        </p:txBody>
      </p:sp>
      <p:sp>
        <p:nvSpPr>
          <p:cNvPr id="16" name="">
            <a:extLst xmlns:a="http://schemas.openxmlformats.org/drawingml/2006/main">
              <a:ext uri="{FF2B5EF4-FFF2-40B4-BE49-F238E27FC236}">
                <a16:creationId xmlns:a16="http://schemas.microsoft.com/office/drawing/2014/main" id="{7A76A75D-264F-475F-9D92-25621C7DCEE3}"/>
              </a:ext>
            </a:extLst>
          </p:cNvPr>
          <p:cNvSpPr>
            <a:spLocks xmlns:a="http://schemas.openxmlformats.org/drawingml/2006/main" noGrp="1"/>
          </p:cNvSpPr>
          <p:nvPr/>
        </p:nvSpPr>
        <p:spPr>
          <a:xfrm xmlns:a="http://schemas.openxmlformats.org/drawingml/2006/main">
            <a:off x="800100" y="59150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00" b="1" i="0">
                <a:solidFill>
                  <a:srgbClr val="526174"/>
                </a:solidFill>
                <a:latin typeface="Arial"/>
                <a:ea typeface="Arial"/>
                <a:cs typeface="Arial"/>
              </a:defRPr>
            </a:pPr>
            <a:r>
              <a:rPr sz="1200" b="1" i="0">
                <a:solidFill>
                  <a:srgbClr val="526174"/>
                </a:solidFill>
                <a:latin typeface="Arial"/>
                <a:ea typeface="Arial"/>
                <a:cs typeface="Arial"/>
              </a:rPr>
              <a:t>Preview only · synthetic/sample records; do not describe demo counts as Dhaga production results.</a:t>
            </a:r>
          </a:p>
        </p:txBody>
      </p:sp>
    </p:spTree>
    <p:extLst>
      <p:ext uri="{BB962C8B-B14F-4D97-AF65-F5344CB8AC3E}">
        <p14:creationId xmlns:p14="http://schemas.microsoft.com/office/powerpoint/2010/main" val="1747464164"/>
      </p:ext>
    </p:extLst>
  </p:cSld>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47472"/>
            <a:ext cx="10789920" cy="256032"/>
          </a:xfrm>
          <a:prstGeom prst="rect">
            <a:avLst/>
          </a:prstGeom>
          <a:noFill/>
        </p:spPr>
        <p:txBody>
          <a:bodyPr wrap="square" lIns="22860" rIns="22860" tIns="9144" bIns="9144" anchor="ctr">
            <a:normAutofit/>
          </a:bodyPr>
          <a:lstStyle/>
          <a:p>
            <a:pPr algn="l"/>
            <a:r>
              <a:rPr sz="1100" b="1">
                <a:solidFill>
                  <a:srgbClr val="D744C4"/>
                </a:solidFill>
                <a:latin typeface="Arial"/>
              </a:rPr>
              <a:t>06 / HIGH-LEVEL ARCHITECTURE · 1.25 MIN</a:t>
            </a:r>
          </a:p>
        </p:txBody>
      </p:sp>
      <p:sp>
        <p:nvSpPr>
          <p:cNvPr id="3" name="TextBox 2"/>
          <p:cNvSpPr txBox="1"/>
          <p:nvPr/>
        </p:nvSpPr>
        <p:spPr>
          <a:xfrm>
            <a:off x="685800" y="704088"/>
            <a:ext cx="10789920" cy="566928"/>
          </a:xfrm>
          <a:prstGeom prst="rect">
            <a:avLst/>
          </a:prstGeom>
          <a:noFill/>
        </p:spPr>
        <p:txBody>
          <a:bodyPr wrap="square" lIns="22860" rIns="22860" tIns="9144" bIns="9144" anchor="ctr">
            <a:normAutofit/>
          </a:bodyPr>
          <a:lstStyle/>
          <a:p>
            <a:pPr algn="l"/>
            <a:r>
              <a:rPr sz="2700" b="1">
                <a:solidFill>
                  <a:srgbClr val="07162D"/>
                </a:solidFill>
                <a:latin typeface="Arial"/>
              </a:rPr>
              <a:t>Approved data in; one Jev decision per new return</a:t>
            </a:r>
          </a:p>
        </p:txBody>
      </p:sp>
      <p:sp>
        <p:nvSpPr>
          <p:cNvPr id="4" name="TextBox 3"/>
          <p:cNvSpPr txBox="1"/>
          <p:nvPr/>
        </p:nvSpPr>
        <p:spPr>
          <a:xfrm>
            <a:off x="685800" y="6419088"/>
            <a:ext cx="10789920" cy="210312"/>
          </a:xfrm>
          <a:prstGeom prst="rect">
            <a:avLst/>
          </a:prstGeom>
          <a:noFill/>
        </p:spPr>
        <p:txBody>
          <a:bodyPr wrap="square" lIns="22860" rIns="22860" tIns="9144" bIns="9144" anchor="ctr">
            <a:normAutofit/>
          </a:bodyPr>
          <a:lstStyle/>
          <a:p>
            <a:pPr algn="l"/>
            <a:r>
              <a:rPr sz="900" b="0">
                <a:solidFill>
                  <a:srgbClr val="526174"/>
                </a:solidFill>
                <a:latin typeface="Arial"/>
              </a:rPr>
              <a:t>06 / Architecture     |     Jev-only default · Preview and Production data are separated</a:t>
            </a:r>
          </a:p>
        </p:txBody>
      </p:sp>
      <p:cxnSp>
        <p:nvCxnSpPr>
          <p:cNvPr id="5" name="Connector 4"/>
          <p:cNvCxnSpPr/>
          <p:nvPr/>
        </p:nvCxnSpPr>
        <p:spPr>
          <a:xfrm>
            <a:off x="2697480" y="1719072"/>
            <a:ext cx="365760" cy="0"/>
          </a:xfrm>
          <a:prstGeom prst="line">
            <a:avLst/>
          </a:prstGeom>
          <a:ln w="19050">
            <a:solidFill>
              <a:srgbClr val="2B5F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532120" y="1719072"/>
            <a:ext cx="521208" cy="0"/>
          </a:xfrm>
          <a:prstGeom prst="line">
            <a:avLst/>
          </a:prstGeom>
          <a:ln w="19050">
            <a:solidFill>
              <a:srgbClr val="2B5F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514600" y="3493008"/>
            <a:ext cx="731520" cy="0"/>
          </a:xfrm>
          <a:prstGeom prst="line">
            <a:avLst/>
          </a:prstGeom>
          <a:ln w="19050">
            <a:solidFill>
              <a:srgbClr val="2B5F86"/>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5413248" y="2267712"/>
            <a:ext cx="694944" cy="1060704"/>
          </a:xfrm>
          <a:prstGeom prst="line">
            <a:avLst/>
          </a:prstGeom>
          <a:ln w="19050">
            <a:solidFill>
              <a:srgbClr val="2B5F86"/>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440680" y="3300984"/>
            <a:ext cx="1124712" cy="338328"/>
          </a:xfrm>
          <a:prstGeom prst="line">
            <a:avLst/>
          </a:prstGeom>
          <a:ln w="19050">
            <a:solidFill>
              <a:srgbClr val="2B5F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79992" y="3291840"/>
            <a:ext cx="658368" cy="621792"/>
          </a:xfrm>
          <a:prstGeom prst="line">
            <a:avLst/>
          </a:prstGeom>
          <a:ln w="19050">
            <a:solidFill>
              <a:srgbClr val="2B5F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413248" y="3767328"/>
            <a:ext cx="1399032" cy="1014984"/>
          </a:xfrm>
          <a:prstGeom prst="line">
            <a:avLst/>
          </a:prstGeom>
          <a:ln w="19050">
            <a:solidFill>
              <a:srgbClr val="2B5F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698480" y="4480560"/>
            <a:ext cx="0" cy="1170432"/>
          </a:xfrm>
          <a:prstGeom prst="line">
            <a:avLst/>
          </a:prstGeom>
          <a:ln w="15875">
            <a:solidFill>
              <a:srgbClr val="2B5F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370832" y="5650992"/>
            <a:ext cx="6327648" cy="0"/>
          </a:xfrm>
          <a:prstGeom prst="line">
            <a:avLst/>
          </a:prstGeom>
          <a:ln w="15875">
            <a:solidFill>
              <a:srgbClr val="2B5F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370832" y="4096512"/>
            <a:ext cx="0" cy="1554480"/>
          </a:xfrm>
          <a:prstGeom prst="line">
            <a:avLst/>
          </a:prstGeom>
          <a:ln w="15875">
            <a:solidFill>
              <a:srgbClr val="2B5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48640" y="1399032"/>
            <a:ext cx="2148840" cy="658368"/>
          </a:xfrm>
          <a:prstGeom prst="rect">
            <a:avLst/>
          </a:prstGeom>
          <a:solidFill>
            <a:srgbClr val="F7F8FA"/>
          </a:solidFill>
          <a:ln w="17145">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200" b="0">
                <a:solidFill>
                  <a:srgbClr val="07162D"/>
                </a:solidFill>
                <a:latin typeface="Arial"/>
              </a:rPr>
              <a:t>Approved pilot data
returns · orders · items · products</a:t>
            </a:r>
          </a:p>
        </p:txBody>
      </p:sp>
      <p:sp>
        <p:nvSpPr>
          <p:cNvPr id="16" name="Rectangle 15"/>
          <p:cNvSpPr/>
          <p:nvPr/>
        </p:nvSpPr>
        <p:spPr>
          <a:xfrm>
            <a:off x="3063240" y="1399032"/>
            <a:ext cx="2468880" cy="658368"/>
          </a:xfrm>
          <a:prstGeom prst="rect">
            <a:avLst/>
          </a:prstGeom>
          <a:solidFill>
            <a:srgbClr val="F7F8FA"/>
          </a:solidFill>
          <a:ln w="17145">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200" b="0">
                <a:solidFill>
                  <a:srgbClr val="07162D"/>
                </a:solidFill>
                <a:latin typeface="Arial"/>
              </a:rPr>
              <a:t>Schema-checked ingestion
validate and upsert</a:t>
            </a:r>
          </a:p>
        </p:txBody>
      </p:sp>
      <p:sp>
        <p:nvSpPr>
          <p:cNvPr id="17" name="Can 16"/>
          <p:cNvSpPr/>
          <p:nvPr/>
        </p:nvSpPr>
        <p:spPr>
          <a:xfrm>
            <a:off x="6053328" y="1252728"/>
            <a:ext cx="1920240" cy="987552"/>
          </a:xfrm>
          <a:prstGeom prst="can">
            <a:avLst/>
          </a:prstGeom>
          <a:solidFill>
            <a:srgbClr val="E7F0EB"/>
          </a:solidFill>
          <a:ln w="17145">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200" b="0">
                <a:solidFill>
                  <a:srgbClr val="07162D"/>
                </a:solidFill>
                <a:latin typeface="Arial"/>
              </a:rPr>
              <a:t>PostgreSQL
source records · analyses · reviews</a:t>
            </a:r>
          </a:p>
        </p:txBody>
      </p:sp>
      <p:sp>
        <p:nvSpPr>
          <p:cNvPr id="18" name="Rectangle 17"/>
          <p:cNvSpPr/>
          <p:nvPr/>
        </p:nvSpPr>
        <p:spPr>
          <a:xfrm>
            <a:off x="548640" y="3127248"/>
            <a:ext cx="1965960" cy="749808"/>
          </a:xfrm>
          <a:prstGeom prst="rect">
            <a:avLst/>
          </a:prstGeom>
          <a:solidFill>
            <a:srgbClr val="F7F8FA"/>
          </a:solidFill>
          <a:ln w="17145">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200" b="0">
                <a:solidFill>
                  <a:srgbClr val="07162D"/>
                </a:solidFill>
                <a:latin typeface="Arial"/>
              </a:rPr>
              <a:t>Dashboard
Other · vendor · SKU · review</a:t>
            </a:r>
          </a:p>
        </p:txBody>
      </p:sp>
      <p:sp>
        <p:nvSpPr>
          <p:cNvPr id="19" name="Rectangle 18"/>
          <p:cNvSpPr/>
          <p:nvPr/>
        </p:nvSpPr>
        <p:spPr>
          <a:xfrm>
            <a:off x="3246120" y="3072384"/>
            <a:ext cx="2167128" cy="1024128"/>
          </a:xfrm>
          <a:prstGeom prst="rect">
            <a:avLst/>
          </a:prstGeom>
          <a:solidFill>
            <a:srgbClr val="E7F0EB"/>
          </a:solidFill>
          <a:ln w="17145">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400" b="1">
                <a:solidFill>
                  <a:srgbClr val="07162D"/>
                </a:solidFill>
                <a:latin typeface="Arial"/>
              </a:rPr>
              <a:t>FastAPI
analytics · classification · review</a:t>
            </a:r>
          </a:p>
        </p:txBody>
      </p:sp>
      <p:sp>
        <p:nvSpPr>
          <p:cNvPr id="20" name="Rectangle 19"/>
          <p:cNvSpPr/>
          <p:nvPr/>
        </p:nvSpPr>
        <p:spPr>
          <a:xfrm>
            <a:off x="6565392" y="2907792"/>
            <a:ext cx="2514600" cy="768096"/>
          </a:xfrm>
          <a:prstGeom prst="rect">
            <a:avLst/>
          </a:prstGeom>
          <a:solidFill>
            <a:srgbClr val="F7F8FA"/>
          </a:solidFill>
          <a:ln w="17145">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300" b="0">
                <a:solidFill>
                  <a:srgbClr val="07162D"/>
                </a:solidFill>
                <a:latin typeface="Arial"/>
              </a:rPr>
              <a:t>OpenRouter Decisions API</a:t>
            </a:r>
          </a:p>
        </p:txBody>
      </p:sp>
      <p:sp>
        <p:nvSpPr>
          <p:cNvPr id="21" name="Rectangle 20"/>
          <p:cNvSpPr/>
          <p:nvPr/>
        </p:nvSpPr>
        <p:spPr>
          <a:xfrm>
            <a:off x="9738360" y="3730752"/>
            <a:ext cx="1965960" cy="768096"/>
          </a:xfrm>
          <a:prstGeom prst="rect">
            <a:avLst/>
          </a:prstGeom>
          <a:solidFill>
            <a:srgbClr val="E7F0EB"/>
          </a:solidFill>
          <a:ln w="17145">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400" b="1">
                <a:solidFill>
                  <a:srgbClr val="07162D"/>
                </a:solidFill>
                <a:latin typeface="Arial"/>
              </a:rPr>
              <a:t>TypeSafe Jev</a:t>
            </a:r>
          </a:p>
        </p:txBody>
      </p:sp>
      <p:sp>
        <p:nvSpPr>
          <p:cNvPr id="22" name="Rectangle 21"/>
          <p:cNvSpPr/>
          <p:nvPr/>
        </p:nvSpPr>
        <p:spPr>
          <a:xfrm>
            <a:off x="6812280" y="4462272"/>
            <a:ext cx="2606040" cy="768096"/>
          </a:xfrm>
          <a:prstGeom prst="rect">
            <a:avLst/>
          </a:prstGeom>
          <a:solidFill>
            <a:srgbClr val="F7F8FA"/>
          </a:solidFill>
          <a:ln w="17145">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rmAutofit/>
          </a:bodyPr>
          <a:lstStyle/>
          <a:p>
            <a:pPr algn="ctr"/>
            <a:r>
              <a:rPr sz="1300" b="0">
                <a:solidFill>
                  <a:srgbClr val="07162D"/>
                </a:solidFill>
                <a:latin typeface="Arial"/>
              </a:rPr>
              <a:t>Human review queue</a:t>
            </a:r>
          </a:p>
        </p:txBody>
      </p:sp>
      <p:sp>
        <p:nvSpPr>
          <p:cNvPr id="23" name="TextBox 22"/>
          <p:cNvSpPr txBox="1"/>
          <p:nvPr/>
        </p:nvSpPr>
        <p:spPr>
          <a:xfrm>
            <a:off x="6583680" y="5340096"/>
            <a:ext cx="2971800" cy="274320"/>
          </a:xfrm>
          <a:prstGeom prst="rect">
            <a:avLst/>
          </a:prstGeom>
          <a:noFill/>
        </p:spPr>
        <p:txBody>
          <a:bodyPr wrap="square" lIns="22860" rIns="22860" tIns="9144" bIns="9144" anchor="ctr">
            <a:normAutofit/>
          </a:bodyPr>
          <a:lstStyle/>
          <a:p>
            <a:pPr algn="ctr"/>
            <a:r>
              <a:rPr sz="1100" b="1">
                <a:solidFill>
                  <a:srgbClr val="526174"/>
                </a:solidFill>
                <a:latin typeface="Arial"/>
              </a:rPr>
              <a:t>Typed decision + usage.cost</a:t>
            </a:r>
          </a:p>
        </p:txBody>
      </p:sp>
      <p:sp>
        <p:nvSpPr>
          <p:cNvPr id="24" name="TextBox 23"/>
          <p:cNvSpPr txBox="1"/>
          <p:nvPr/>
        </p:nvSpPr>
        <p:spPr>
          <a:xfrm>
            <a:off x="5440680" y="4407408"/>
            <a:ext cx="1353312" cy="310896"/>
          </a:xfrm>
          <a:prstGeom prst="rect">
            <a:avLst/>
          </a:prstGeom>
          <a:noFill/>
        </p:spPr>
        <p:txBody>
          <a:bodyPr wrap="square" lIns="22860" rIns="22860" tIns="9144" bIns="9144" anchor="ctr">
            <a:normAutofit/>
          </a:bodyPr>
          <a:lstStyle/>
          <a:p>
            <a:pPr algn="ctr"/>
            <a:r>
              <a:rPr sz="1000" b="1">
                <a:solidFill>
                  <a:srgbClr val="526174"/>
                </a:solidFill>
                <a:latin typeface="Arial"/>
              </a:rPr>
              <a:t>Final OTHER only</a:t>
            </a:r>
          </a:p>
        </p:txBody>
      </p:sp>
      <p:sp>
        <p:nvSpPr>
          <p:cNvPr id="25" name="TextBox 24"/>
          <p:cNvSpPr txBox="1"/>
          <p:nvPr/>
        </p:nvSpPr>
        <p:spPr>
          <a:xfrm>
            <a:off x="731520" y="5989320"/>
            <a:ext cx="10789920" cy="256032"/>
          </a:xfrm>
          <a:prstGeom prst="rect">
            <a:avLst/>
          </a:prstGeom>
          <a:noFill/>
        </p:spPr>
        <p:txBody>
          <a:bodyPr wrap="square" lIns="22860" rIns="22860" tIns="9144" bIns="9144" anchor="ctr">
            <a:normAutofit/>
          </a:bodyPr>
          <a:lstStyle/>
          <a:p>
            <a:pPr algn="l"/>
            <a:r>
              <a:rPr sz="1000" b="0">
                <a:solidFill>
                  <a:srgbClr val="526174"/>
                </a:solidFill>
                <a:latin typeface="Arial"/>
              </a:rPr>
              <a:t>OpenRouter returns usage.cost; the current classifier does not capture or persist that field.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47472"/>
            <a:ext cx="10789920" cy="256032"/>
          </a:xfrm>
          <a:prstGeom prst="rect">
            <a:avLst/>
          </a:prstGeom>
          <a:noFill/>
        </p:spPr>
        <p:txBody>
          <a:bodyPr wrap="square" lIns="18288" rIns="18288" tIns="9144" bIns="9144" anchor="ctr">
            <a:normAutofit/>
          </a:bodyPr>
          <a:lstStyle/>
          <a:p>
            <a:pPr algn="l"/>
            <a:r>
              <a:rPr sz="1100" b="1">
                <a:solidFill>
                  <a:srgbClr val="D744C4"/>
                </a:solidFill>
                <a:latin typeface="Arial"/>
              </a:rPr>
              <a:t>07 / DELIVERY ROADMAP · 1.5 MIN</a:t>
            </a:r>
          </a:p>
        </p:txBody>
      </p:sp>
      <p:sp>
        <p:nvSpPr>
          <p:cNvPr id="3" name="TextBox 2"/>
          <p:cNvSpPr txBox="1"/>
          <p:nvPr/>
        </p:nvSpPr>
        <p:spPr>
          <a:xfrm>
            <a:off x="685800" y="704088"/>
            <a:ext cx="10789920" cy="566928"/>
          </a:xfrm>
          <a:prstGeom prst="rect">
            <a:avLst/>
          </a:prstGeom>
          <a:noFill/>
        </p:spPr>
        <p:txBody>
          <a:bodyPr wrap="square" lIns="18288" rIns="18288" tIns="9144" bIns="9144" anchor="ctr">
            <a:normAutofit/>
          </a:bodyPr>
          <a:lstStyle/>
          <a:p>
            <a:pPr algn="l"/>
            <a:r>
              <a:rPr sz="2900" b="1">
                <a:solidFill>
                  <a:srgbClr val="07162D"/>
                </a:solidFill>
                <a:latin typeface="Arial"/>
              </a:rPr>
              <a:t>A gated six-week pilot, subject to access</a:t>
            </a:r>
          </a:p>
        </p:txBody>
      </p:sp>
      <p:sp>
        <p:nvSpPr>
          <p:cNvPr id="4" name="TextBox 3"/>
          <p:cNvSpPr txBox="1"/>
          <p:nvPr/>
        </p:nvSpPr>
        <p:spPr>
          <a:xfrm>
            <a:off x="685800" y="6419088"/>
            <a:ext cx="10789920" cy="210312"/>
          </a:xfrm>
          <a:prstGeom prst="rect">
            <a:avLst/>
          </a:prstGeom>
          <a:noFill/>
        </p:spPr>
        <p:txBody>
          <a:bodyPr wrap="square" lIns="18288" rIns="18288" tIns="9144" bIns="9144" anchor="ctr">
            <a:normAutofit/>
          </a:bodyPr>
          <a:lstStyle/>
          <a:p>
            <a:pPr algn="l"/>
            <a:r>
              <a:rPr sz="900" b="0">
                <a:solidFill>
                  <a:srgbClr val="526174"/>
                </a:solidFill>
                <a:latin typeface="Arial"/>
              </a:rPr>
              <a:t>07 / Delivery roadmap     |     Indicative sequence, not a committed schedule</a:t>
            </a:r>
          </a:p>
        </p:txBody>
      </p:sp>
      <p:sp>
        <p:nvSpPr>
          <p:cNvPr id="5" name="Rectangle 4"/>
          <p:cNvSpPr/>
          <p:nvPr/>
        </p:nvSpPr>
        <p:spPr>
          <a:xfrm>
            <a:off x="658368" y="1627632"/>
            <a:ext cx="2660904" cy="3703320"/>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73936"/>
            <a:ext cx="2368296" cy="256032"/>
          </a:xfrm>
          <a:prstGeom prst="rect">
            <a:avLst/>
          </a:prstGeom>
          <a:noFill/>
        </p:spPr>
        <p:txBody>
          <a:bodyPr wrap="square" lIns="18288" rIns="18288" tIns="9144" bIns="9144" anchor="ctr">
            <a:normAutofit/>
          </a:bodyPr>
          <a:lstStyle/>
          <a:p>
            <a:pPr algn="l"/>
            <a:r>
              <a:rPr sz="1000" b="1">
                <a:solidFill>
                  <a:srgbClr val="D744C4"/>
                </a:solidFill>
                <a:latin typeface="Arial"/>
              </a:rPr>
              <a:t>WEEK 0</a:t>
            </a:r>
          </a:p>
        </p:txBody>
      </p:sp>
      <p:sp>
        <p:nvSpPr>
          <p:cNvPr id="7" name="TextBox 6"/>
          <p:cNvSpPr txBox="1"/>
          <p:nvPr/>
        </p:nvSpPr>
        <p:spPr>
          <a:xfrm>
            <a:off x="804672" y="2130552"/>
            <a:ext cx="2368296" cy="438912"/>
          </a:xfrm>
          <a:prstGeom prst="rect">
            <a:avLst/>
          </a:prstGeom>
          <a:noFill/>
        </p:spPr>
        <p:txBody>
          <a:bodyPr wrap="square" lIns="18288" rIns="18288" tIns="9144" bIns="9144" anchor="ctr">
            <a:normAutofit/>
          </a:bodyPr>
          <a:lstStyle/>
          <a:p>
            <a:pPr algn="l"/>
            <a:r>
              <a:rPr sz="1800" b="1">
                <a:solidFill>
                  <a:srgbClr val="07162D"/>
                </a:solidFill>
                <a:latin typeface="Arial"/>
              </a:rPr>
              <a:t>Align</a:t>
            </a:r>
          </a:p>
        </p:txBody>
      </p:sp>
      <p:sp>
        <p:nvSpPr>
          <p:cNvPr id="8" name="TextBox 7"/>
          <p:cNvSpPr txBox="1"/>
          <p:nvPr/>
        </p:nvSpPr>
        <p:spPr>
          <a:xfrm>
            <a:off x="804672" y="2651760"/>
            <a:ext cx="2368296" cy="2487168"/>
          </a:xfrm>
          <a:prstGeom prst="rect">
            <a:avLst/>
          </a:prstGeom>
          <a:noFill/>
        </p:spPr>
        <p:txBody>
          <a:bodyPr wrap="square" lIns="18288" rIns="18288" tIns="9144" bIns="9144" anchor="ctr">
            <a:normAutofit/>
          </a:bodyPr>
          <a:lstStyle/>
          <a:p>
            <a:pPr algn="l"/>
            <a:r>
              <a:rPr sz="1200" b="0">
                <a:solidFill>
                  <a:srgbClr val="526174"/>
                </a:solidFill>
                <a:latin typeface="Arial"/>
              </a:rPr>
              <a:t>Name sponsor and target category.
Agree metrics: accuracy, coverage, review rate and cost.
Start privacy/security review.</a:t>
            </a:r>
          </a:p>
        </p:txBody>
      </p:sp>
      <p:sp>
        <p:nvSpPr>
          <p:cNvPr id="9" name="Rectangle 8"/>
          <p:cNvSpPr/>
          <p:nvPr/>
        </p:nvSpPr>
        <p:spPr>
          <a:xfrm>
            <a:off x="3465576" y="1627632"/>
            <a:ext cx="2660904" cy="3703320"/>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773936"/>
            <a:ext cx="2368296" cy="256032"/>
          </a:xfrm>
          <a:prstGeom prst="rect">
            <a:avLst/>
          </a:prstGeom>
          <a:noFill/>
        </p:spPr>
        <p:txBody>
          <a:bodyPr wrap="square" lIns="18288" rIns="18288" tIns="9144" bIns="9144" anchor="ctr">
            <a:normAutofit/>
          </a:bodyPr>
          <a:lstStyle/>
          <a:p>
            <a:pPr algn="l"/>
            <a:r>
              <a:rPr sz="1000" b="1">
                <a:solidFill>
                  <a:srgbClr val="D744C4"/>
                </a:solidFill>
                <a:latin typeface="Arial"/>
              </a:rPr>
              <a:t>WEEKS 1-2</a:t>
            </a:r>
          </a:p>
        </p:txBody>
      </p:sp>
      <p:sp>
        <p:nvSpPr>
          <p:cNvPr id="11" name="TextBox 10"/>
          <p:cNvSpPr txBox="1"/>
          <p:nvPr/>
        </p:nvSpPr>
        <p:spPr>
          <a:xfrm>
            <a:off x="3611880" y="2130552"/>
            <a:ext cx="2368296" cy="438912"/>
          </a:xfrm>
          <a:prstGeom prst="rect">
            <a:avLst/>
          </a:prstGeom>
          <a:noFill/>
        </p:spPr>
        <p:txBody>
          <a:bodyPr wrap="square" lIns="18288" rIns="18288" tIns="9144" bIns="9144" anchor="ctr">
            <a:normAutofit/>
          </a:bodyPr>
          <a:lstStyle/>
          <a:p>
            <a:pPr algn="l"/>
            <a:r>
              <a:rPr sz="1800" b="1">
                <a:solidFill>
                  <a:srgbClr val="07162D"/>
                </a:solidFill>
                <a:latin typeface="Arial"/>
              </a:rPr>
              <a:t>Data + labels</a:t>
            </a:r>
          </a:p>
        </p:txBody>
      </p:sp>
      <p:sp>
        <p:nvSpPr>
          <p:cNvPr id="12" name="TextBox 11"/>
          <p:cNvSpPr txBox="1"/>
          <p:nvPr/>
        </p:nvSpPr>
        <p:spPr>
          <a:xfrm>
            <a:off x="3611880" y="2651760"/>
            <a:ext cx="2368296" cy="2487168"/>
          </a:xfrm>
          <a:prstGeom prst="rect">
            <a:avLst/>
          </a:prstGeom>
          <a:noFill/>
        </p:spPr>
        <p:txBody>
          <a:bodyPr wrap="square" lIns="18288" rIns="18288" tIns="9144" bIns="9144" anchor="ctr">
            <a:normAutofit/>
          </a:bodyPr>
          <a:lstStyle/>
          <a:p>
            <a:pPr algn="l"/>
            <a:r>
              <a:rPr sz="1200" b="0">
                <a:solidFill>
                  <a:srgbClr val="526174"/>
                </a:solidFill>
                <a:latin typeface="Arial"/>
              </a:rPr>
              <a:t>Approve and de-identify a representative sample.
Map source fields and taxonomy.
Prepare human-labeled holdout.</a:t>
            </a:r>
          </a:p>
        </p:txBody>
      </p:sp>
      <p:sp>
        <p:nvSpPr>
          <p:cNvPr id="13" name="Rectangle 12"/>
          <p:cNvSpPr/>
          <p:nvPr/>
        </p:nvSpPr>
        <p:spPr>
          <a:xfrm>
            <a:off x="6272784" y="1627632"/>
            <a:ext cx="2660904" cy="3703320"/>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773936"/>
            <a:ext cx="2368296" cy="256032"/>
          </a:xfrm>
          <a:prstGeom prst="rect">
            <a:avLst/>
          </a:prstGeom>
          <a:noFill/>
        </p:spPr>
        <p:txBody>
          <a:bodyPr wrap="square" lIns="18288" rIns="18288" tIns="9144" bIns="9144" anchor="ctr">
            <a:normAutofit/>
          </a:bodyPr>
          <a:lstStyle/>
          <a:p>
            <a:pPr algn="l"/>
            <a:r>
              <a:rPr sz="1000" b="1">
                <a:solidFill>
                  <a:srgbClr val="D744C4"/>
                </a:solidFill>
                <a:latin typeface="Arial"/>
              </a:rPr>
              <a:t>WEEKS 3-4</a:t>
            </a:r>
          </a:p>
        </p:txBody>
      </p:sp>
      <p:sp>
        <p:nvSpPr>
          <p:cNvPr id="15" name="TextBox 14"/>
          <p:cNvSpPr txBox="1"/>
          <p:nvPr/>
        </p:nvSpPr>
        <p:spPr>
          <a:xfrm>
            <a:off x="6419088" y="2130552"/>
            <a:ext cx="2368296" cy="438912"/>
          </a:xfrm>
          <a:prstGeom prst="rect">
            <a:avLst/>
          </a:prstGeom>
          <a:noFill/>
        </p:spPr>
        <p:txBody>
          <a:bodyPr wrap="square" lIns="18288" rIns="18288" tIns="9144" bIns="9144" anchor="ctr">
            <a:normAutofit/>
          </a:bodyPr>
          <a:lstStyle/>
          <a:p>
            <a:pPr algn="l"/>
            <a:r>
              <a:rPr sz="1800" b="1">
                <a:solidFill>
                  <a:srgbClr val="07162D"/>
                </a:solidFill>
                <a:latin typeface="Arial"/>
              </a:rPr>
              <a:t>Build + baseline</a:t>
            </a:r>
          </a:p>
        </p:txBody>
      </p:sp>
      <p:sp>
        <p:nvSpPr>
          <p:cNvPr id="16" name="TextBox 15"/>
          <p:cNvSpPr txBox="1"/>
          <p:nvPr/>
        </p:nvSpPr>
        <p:spPr>
          <a:xfrm>
            <a:off x="6419088" y="2651760"/>
            <a:ext cx="2368296" cy="2487168"/>
          </a:xfrm>
          <a:prstGeom prst="rect">
            <a:avLst/>
          </a:prstGeom>
          <a:noFill/>
        </p:spPr>
        <p:txBody>
          <a:bodyPr wrap="square" lIns="18288" rIns="18288" tIns="9144" bIns="9144" anchor="ctr">
            <a:normAutofit/>
          </a:bodyPr>
          <a:lstStyle/>
          <a:p>
            <a:pPr algn="l"/>
            <a:r>
              <a:rPr sz="1200" b="0">
                <a:solidFill>
                  <a:srgbClr val="526174"/>
                </a:solidFill>
                <a:latin typeface="Arial"/>
              </a:rPr>
              <a:t>Load approved data in Preview.
Run Jev-only baseline.
Measure holdout quality and actual usage.cost.</a:t>
            </a:r>
          </a:p>
        </p:txBody>
      </p:sp>
      <p:sp>
        <p:nvSpPr>
          <p:cNvPr id="17" name="Rectangle 16"/>
          <p:cNvSpPr/>
          <p:nvPr/>
        </p:nvSpPr>
        <p:spPr>
          <a:xfrm>
            <a:off x="9079992" y="1627632"/>
            <a:ext cx="2660904" cy="3703320"/>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26296" y="1773936"/>
            <a:ext cx="2368296" cy="256032"/>
          </a:xfrm>
          <a:prstGeom prst="rect">
            <a:avLst/>
          </a:prstGeom>
          <a:noFill/>
        </p:spPr>
        <p:txBody>
          <a:bodyPr wrap="square" lIns="18288" rIns="18288" tIns="9144" bIns="9144" anchor="ctr">
            <a:normAutofit/>
          </a:bodyPr>
          <a:lstStyle/>
          <a:p>
            <a:pPr algn="l"/>
            <a:r>
              <a:rPr sz="1000" b="1">
                <a:solidFill>
                  <a:srgbClr val="D744C4"/>
                </a:solidFill>
                <a:latin typeface="Arial"/>
              </a:rPr>
              <a:t>WEEKS 5-6</a:t>
            </a:r>
          </a:p>
        </p:txBody>
      </p:sp>
      <p:sp>
        <p:nvSpPr>
          <p:cNvPr id="19" name="TextBox 18"/>
          <p:cNvSpPr txBox="1"/>
          <p:nvPr/>
        </p:nvSpPr>
        <p:spPr>
          <a:xfrm>
            <a:off x="9226296" y="2130552"/>
            <a:ext cx="2368296" cy="438912"/>
          </a:xfrm>
          <a:prstGeom prst="rect">
            <a:avLst/>
          </a:prstGeom>
          <a:noFill/>
        </p:spPr>
        <p:txBody>
          <a:bodyPr wrap="square" lIns="18288" rIns="18288" tIns="9144" bIns="9144" anchor="ctr">
            <a:normAutofit/>
          </a:bodyPr>
          <a:lstStyle/>
          <a:p>
            <a:pPr algn="l"/>
            <a:r>
              <a:rPr sz="1800" b="1">
                <a:solidFill>
                  <a:srgbClr val="07162D"/>
                </a:solidFill>
                <a:latin typeface="Arial"/>
              </a:rPr>
              <a:t>Controlled pilot</a:t>
            </a:r>
          </a:p>
        </p:txBody>
      </p:sp>
      <p:sp>
        <p:nvSpPr>
          <p:cNvPr id="20" name="TextBox 19"/>
          <p:cNvSpPr txBox="1"/>
          <p:nvPr/>
        </p:nvSpPr>
        <p:spPr>
          <a:xfrm>
            <a:off x="9226296" y="2651760"/>
            <a:ext cx="2368296" cy="2487168"/>
          </a:xfrm>
          <a:prstGeom prst="rect">
            <a:avLst/>
          </a:prstGeom>
          <a:noFill/>
        </p:spPr>
        <p:txBody>
          <a:bodyPr wrap="square" lIns="18288" rIns="18288" tIns="9144" bIns="9144" anchor="ctr">
            <a:normAutofit/>
          </a:bodyPr>
          <a:lstStyle/>
          <a:p>
            <a:pPr algn="l"/>
            <a:r>
              <a:rPr sz="1200" b="0">
                <a:solidFill>
                  <a:srgbClr val="526174"/>
                </a:solidFill>
                <a:latin typeface="Arial"/>
              </a:rPr>
              <a:t>Limit scope and retain human oversight.
Review quality, coverage, workload and cost weekly.
Go / iterate / stop decision.</a:t>
            </a:r>
          </a:p>
        </p:txBody>
      </p:sp>
      <p:sp>
        <p:nvSpPr>
          <p:cNvPr id="21" name="TextBox 20"/>
          <p:cNvSpPr txBox="1"/>
          <p:nvPr/>
        </p:nvSpPr>
        <p:spPr>
          <a:xfrm>
            <a:off x="731520" y="5532120"/>
            <a:ext cx="10881360" cy="502920"/>
          </a:xfrm>
          <a:prstGeom prst="rect">
            <a:avLst/>
          </a:prstGeom>
          <a:noFill/>
        </p:spPr>
        <p:txBody>
          <a:bodyPr wrap="square" lIns="18288" rIns="18288" tIns="9144" bIns="9144" anchor="ctr">
            <a:normAutofit/>
          </a:bodyPr>
          <a:lstStyle/>
          <a:p>
            <a:pPr algn="l"/>
            <a:r>
              <a:rPr sz="1100" b="1">
                <a:solidFill>
                  <a:srgbClr val="2B5F86"/>
                </a:solidFill>
                <a:latin typeface="Arial"/>
              </a:rPr>
              <a:t>Timing depends on data access, label turnaround and security approval. Do not expand scope until agreed quality and operational gates pass.</a:t>
            </a:r>
          </a:p>
        </p:txBody>
      </p:sp>
    </p:spTree>
  </p:cSld>
  <p:clrMapOvr>
    <a:masterClrMapping/>
  </p:clrMapOvr>
</p:sld>
</file>

<file path=ppt/slides/slide8.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3CF1C8-C21C-451F-87A3-53131DF5EF15}"/>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08 / COST COMPARISON · 1.25 MIN</a:t>
            </a:r>
          </a:p>
        </p:txBody>
      </p:sp>
      <p:sp>
        <p:nvSpPr>
          <p:cNvPr id="2" name="">
            <a:extLst xmlns:a="http://schemas.openxmlformats.org/drawingml/2006/main">
              <a:ext uri="{FF2B5EF4-FFF2-40B4-BE49-F238E27FC236}">
                <a16:creationId xmlns:a16="http://schemas.microsoft.com/office/drawing/2014/main" id="{B4110979-46EF-4B15-83FF-40DEC2721D64}"/>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Prior GPT cascade vs Jev-only scenario</a:t>
            </a:r>
          </a:p>
        </p:txBody>
      </p:sp>
      <p:sp>
        <p:nvSpPr>
          <p:cNvPr id="3" name="">
            <a:extLst xmlns:a="http://schemas.openxmlformats.org/drawingml/2006/main">
              <a:ext uri="{FF2B5EF4-FFF2-40B4-BE49-F238E27FC236}">
                <a16:creationId xmlns:a16="http://schemas.microsoft.com/office/drawing/2014/main" id="{FDE9E0BF-127E-4E85-8FDE-493A68EBFB7D}"/>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08 / Cost comparison     |     Model-only estimates</a:t>
            </a:r>
          </a:p>
        </p:txBody>
      </p:sp>
      <p:sp>
        <p:nvSpPr>
          <p:cNvPr id="4" name="">
            <a:extLst xmlns:a="http://schemas.openxmlformats.org/drawingml/2006/main">
              <a:ext uri="{FF2B5EF4-FFF2-40B4-BE49-F238E27FC236}">
                <a16:creationId xmlns:a16="http://schemas.microsoft.com/office/drawing/2014/main" id="{7C28F686-14F3-433D-ADC7-FB5CBC658AE2}"/>
              </a:ext>
            </a:extLst>
          </p:cNvPr>
          <p:cNvSpPr>
            <a:spLocks xmlns:a="http://schemas.openxmlformats.org/drawingml/2006/main" noGrp="1"/>
          </p:cNvSpPr>
          <p:nvPr/>
        </p:nvSpPr>
        <p:spPr>
          <a:xfrm xmlns:a="http://schemas.openxmlformats.org/drawingml/2006/main">
            <a:off x="781050" y="18097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2B5F86"/>
                </a:solidFill>
                <a:latin typeface="Arial"/>
                <a:ea typeface="Arial"/>
                <a:cs typeface="Arial"/>
              </a:defRPr>
            </a:pPr>
            <a:r>
              <a:rPr sz="1200" b="1" i="0">
                <a:solidFill>
                  <a:srgbClr val="2B5F86"/>
                </a:solidFill>
                <a:latin typeface="Arial"/>
                <a:ea typeface="Arial"/>
                <a:cs typeface="Arial"/>
              </a:rPr>
              <a:t>OLD · GPT-4.1 MINI + GPT-4.1</a:t>
            </a:r>
          </a:p>
        </p:txBody>
      </p:sp>
      <p:sp>
        <p:nvSpPr>
          <p:cNvPr id="5" name="">
            <a:extLst xmlns:a="http://schemas.openxmlformats.org/drawingml/2006/main">
              <a:ext uri="{FF2B5EF4-FFF2-40B4-BE49-F238E27FC236}">
                <a16:creationId xmlns:a16="http://schemas.microsoft.com/office/drawing/2014/main" id="{85717D02-0E0F-4319-8308-BDDE6070DE7B}"/>
              </a:ext>
            </a:extLst>
          </p:cNvPr>
          <p:cNvSpPr>
            <a:spLocks xmlns:a="http://schemas.openxmlformats.org/drawingml/2006/main" noGrp="1"/>
          </p:cNvSpPr>
          <p:nvPr/>
        </p:nvSpPr>
        <p:spPr>
          <a:xfrm xmlns:a="http://schemas.openxmlformats.org/drawingml/2006/main">
            <a:off x="781050" y="219075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0" i="0">
                <a:solidFill>
                  <a:srgbClr val="07162D"/>
                </a:solidFill>
                <a:latin typeface="Arial"/>
                <a:ea typeface="Arial"/>
                <a:cs typeface="Arial"/>
              </a:defRPr>
            </a:pPr>
            <a:r>
              <a:rPr sz="1650" b="0" i="0">
                <a:solidFill>
                  <a:srgbClr val="07162D"/>
                </a:solidFill>
                <a:latin typeface="Arial"/>
                <a:ea typeface="Arial"/>
                <a:cs typeface="Arial"/>
              </a:rPr>
              <a:t>200/100-token light call; 10% escalate at 300/100</a:t>
            </a:r>
          </a:p>
        </p:txBody>
      </p:sp>
      <p:sp>
        <p:nvSpPr>
          <p:cNvPr id="6" name="">
            <a:extLst xmlns:a="http://schemas.openxmlformats.org/drawingml/2006/main">
              <a:ext uri="{FF2B5EF4-FFF2-40B4-BE49-F238E27FC236}">
                <a16:creationId xmlns:a16="http://schemas.microsoft.com/office/drawing/2014/main" id="{EF7F2CFC-904A-4048-9416-F2CD9F13997C}"/>
              </a:ext>
            </a:extLst>
          </p:cNvPr>
          <p:cNvSpPr>
            <a:spLocks xmlns:a="http://schemas.openxmlformats.org/drawingml/2006/main" noGrp="1"/>
          </p:cNvSpPr>
          <p:nvPr/>
        </p:nvSpPr>
        <p:spPr>
          <a:xfrm xmlns:a="http://schemas.openxmlformats.org/drawingml/2006/main">
            <a:off x="781050" y="26384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07162D"/>
                </a:solidFill>
                <a:latin typeface="Arial"/>
                <a:ea typeface="Arial"/>
                <a:cs typeface="Arial"/>
              </a:defRPr>
            </a:pPr>
            <a:r>
              <a:rPr sz="2100" b="1" i="0">
                <a:solidFill>
                  <a:srgbClr val="07162D"/>
                </a:solidFill>
                <a:latin typeface="Arial"/>
                <a:ea typeface="Arial"/>
                <a:cs typeface="Arial"/>
              </a:rPr>
              <a:t>≈ $0.00038 per return</a:t>
            </a:r>
          </a:p>
        </p:txBody>
      </p:sp>
      <p:sp>
        <p:nvSpPr>
          <p:cNvPr id="7" name="">
            <a:extLst xmlns:a="http://schemas.openxmlformats.org/drawingml/2006/main">
              <a:ext uri="{FF2B5EF4-FFF2-40B4-BE49-F238E27FC236}">
                <a16:creationId xmlns:a16="http://schemas.microsoft.com/office/drawing/2014/main" id="{BB85256F-3931-4FBB-B3E9-D80B9CCAEA55}"/>
              </a:ext>
            </a:extLst>
          </p:cNvPr>
          <p:cNvSpPr>
            <a:spLocks xmlns:a="http://schemas.openxmlformats.org/drawingml/2006/main" noGrp="1"/>
          </p:cNvSpPr>
          <p:nvPr/>
        </p:nvSpPr>
        <p:spPr>
          <a:xfrm xmlns:a="http://schemas.openxmlformats.org/drawingml/2006/main">
            <a:off x="6286500" y="18097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2B5F86"/>
                </a:solidFill>
                <a:latin typeface="Arial"/>
                <a:ea typeface="Arial"/>
                <a:cs typeface="Arial"/>
              </a:defRPr>
            </a:pPr>
            <a:r>
              <a:rPr sz="1200" b="1" i="0">
                <a:solidFill>
                  <a:srgbClr val="2B5F86"/>
                </a:solidFill>
                <a:latin typeface="Arial"/>
                <a:ea typeface="Arial"/>
                <a:cs typeface="Arial"/>
              </a:rPr>
              <a:t>CURRENT · JEV-ONLY</a:t>
            </a:r>
          </a:p>
        </p:txBody>
      </p:sp>
      <p:sp>
        <p:nvSpPr>
          <p:cNvPr id="8" name="">
            <a:extLst xmlns:a="http://schemas.openxmlformats.org/drawingml/2006/main">
              <a:ext uri="{FF2B5EF4-FFF2-40B4-BE49-F238E27FC236}">
                <a16:creationId xmlns:a16="http://schemas.microsoft.com/office/drawing/2014/main" id="{FAEEF89E-A29F-4A34-8D58-A1AADAB635A3}"/>
              </a:ext>
            </a:extLst>
          </p:cNvPr>
          <p:cNvSpPr>
            <a:spLocks xmlns:a="http://schemas.openxmlformats.org/drawingml/2006/main" noGrp="1"/>
          </p:cNvSpPr>
          <p:nvPr/>
        </p:nvSpPr>
        <p:spPr>
          <a:xfrm xmlns:a="http://schemas.openxmlformats.org/drawingml/2006/main">
            <a:off x="6286500" y="21907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0" i="0">
                <a:solidFill>
                  <a:srgbClr val="07162D"/>
                </a:solidFill>
                <a:latin typeface="Arial"/>
                <a:ea typeface="Arial"/>
                <a:cs typeface="Arial"/>
              </a:defRPr>
            </a:pPr>
            <a:r>
              <a:rPr sz="1650" b="0" i="0">
                <a:solidFill>
                  <a:srgbClr val="07162D"/>
                </a:solidFill>
                <a:latin typeface="Arial"/>
                <a:ea typeface="Arial"/>
                <a:cs typeface="Arial"/>
              </a:rPr>
              <a:t>$0.042/M input tokens · output free</a:t>
            </a:r>
          </a:p>
        </p:txBody>
      </p:sp>
      <p:sp>
        <p:nvSpPr>
          <p:cNvPr id="9" name="">
            <a:extLst xmlns:a="http://schemas.openxmlformats.org/drawingml/2006/main">
              <a:ext uri="{FF2B5EF4-FFF2-40B4-BE49-F238E27FC236}">
                <a16:creationId xmlns:a16="http://schemas.microsoft.com/office/drawing/2014/main" id="{B01AE0E4-572D-4BA3-8368-2676E77A0463}"/>
              </a:ext>
            </a:extLst>
          </p:cNvPr>
          <p:cNvSpPr>
            <a:spLocks xmlns:a="http://schemas.openxmlformats.org/drawingml/2006/main" noGrp="1"/>
          </p:cNvSpPr>
          <p:nvPr/>
        </p:nvSpPr>
        <p:spPr>
          <a:xfrm xmlns:a="http://schemas.openxmlformats.org/drawingml/2006/main">
            <a:off x="6286500" y="26384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950" b="1" i="0">
                <a:solidFill>
                  <a:srgbClr val="07162D"/>
                </a:solidFill>
                <a:latin typeface="Arial"/>
                <a:ea typeface="Arial"/>
                <a:cs typeface="Arial"/>
              </a:defRPr>
            </a:pPr>
            <a:r>
              <a:rPr sz="1950" b="1" i="0">
                <a:solidFill>
                  <a:srgbClr val="07162D"/>
                </a:solidFill>
                <a:latin typeface="Arial"/>
                <a:ea typeface="Arial"/>
                <a:cs typeface="Arial"/>
              </a:rPr>
              <a:t>≈ $0.000042/call at 1,000 input tokens</a:t>
            </a:r>
          </a:p>
        </p:txBody>
      </p:sp>
      <p:sp>
        <p:nvSpPr>
          <p:cNvPr id="10" name="">
            <a:extLst xmlns:a="http://schemas.openxmlformats.org/drawingml/2006/main">
              <a:ext uri="{FF2B5EF4-FFF2-40B4-BE49-F238E27FC236}">
                <a16:creationId xmlns:a16="http://schemas.microsoft.com/office/drawing/2014/main" id="{251F680D-4966-4AEA-9974-6200441B3841}"/>
              </a:ext>
            </a:extLst>
          </p:cNvPr>
          <p:cNvSpPr>
            <a:spLocks xmlns:a="http://schemas.openxmlformats.org/drawingml/2006/main" noGrp="1"/>
          </p:cNvSpPr>
          <p:nvPr/>
        </p:nvSpPr>
        <p:spPr>
          <a:xfrm xmlns:a="http://schemas.openxmlformats.org/drawingml/2006/main">
            <a:off x="781050" y="3648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1" i="0">
                <a:solidFill>
                  <a:srgbClr val="D744C4"/>
                </a:solidFill>
                <a:latin typeface="Arial"/>
                <a:ea typeface="Arial"/>
                <a:cs typeface="Arial"/>
              </a:defRPr>
            </a:pPr>
            <a:r>
              <a:rPr sz="1650" b="1" i="0">
                <a:solidFill>
                  <a:srgbClr val="D744C4"/>
                </a:solidFill>
                <a:latin typeface="Arial"/>
                <a:ea typeface="Arial"/>
                <a:cs typeface="Arial"/>
              </a:rPr>
              <a:t>WEEKLY COST · 14,880 RETURNS</a:t>
            </a:r>
          </a:p>
        </p:txBody>
      </p:sp>
      <p:sp>
        <p:nvSpPr>
          <p:cNvPr id="11" name="">
            <a:extLst xmlns:a="http://schemas.openxmlformats.org/drawingml/2006/main">
              <a:ext uri="{FF2B5EF4-FFF2-40B4-BE49-F238E27FC236}">
                <a16:creationId xmlns:a16="http://schemas.microsoft.com/office/drawing/2014/main" id="{67085D13-4B4B-49AE-83C3-D405B2E83CAD}"/>
              </a:ext>
            </a:extLst>
          </p:cNvPr>
          <p:cNvSpPr>
            <a:spLocks xmlns:a="http://schemas.openxmlformats.org/drawingml/2006/main" noGrp="1"/>
          </p:cNvSpPr>
          <p:nvPr/>
        </p:nvSpPr>
        <p:spPr>
          <a:xfrm xmlns:a="http://schemas.openxmlformats.org/drawingml/2006/main">
            <a:off x="781050" y="4048125"/>
            <a:ext cx="285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07162D"/>
                </a:solidFill>
                <a:latin typeface="Arial"/>
                <a:ea typeface="Arial"/>
                <a:cs typeface="Arial"/>
              </a:defRPr>
            </a:pPr>
            <a:r>
              <a:rPr sz="3600" b="1" i="0">
                <a:solidFill>
                  <a:srgbClr val="07162D"/>
                </a:solidFill>
                <a:latin typeface="Arial"/>
                <a:ea typeface="Arial"/>
                <a:cs typeface="Arial"/>
              </a:rPr>
              <a:t>≈ $5.65</a:t>
            </a:r>
          </a:p>
        </p:txBody>
      </p:sp>
      <p:sp>
        <p:nvSpPr>
          <p:cNvPr id="12" name="">
            <a:extLst xmlns:a="http://schemas.openxmlformats.org/drawingml/2006/main">
              <a:ext uri="{FF2B5EF4-FFF2-40B4-BE49-F238E27FC236}">
                <a16:creationId xmlns:a16="http://schemas.microsoft.com/office/drawing/2014/main" id="{199E882A-E1F4-449D-8EFB-C43F5D3E840D}"/>
              </a:ext>
            </a:extLst>
          </p:cNvPr>
          <p:cNvSpPr>
            <a:spLocks xmlns:a="http://schemas.openxmlformats.org/drawingml/2006/main" noGrp="1"/>
          </p:cNvSpPr>
          <p:nvPr/>
        </p:nvSpPr>
        <p:spPr>
          <a:xfrm xmlns:a="http://schemas.openxmlformats.org/drawingml/2006/main">
            <a:off x="800100" y="4638675"/>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prior v2 cascade</a:t>
            </a:r>
          </a:p>
        </p:txBody>
      </p:sp>
      <p:sp>
        <p:nvSpPr>
          <p:cNvPr id="13" name="">
            <a:extLst xmlns:a="http://schemas.openxmlformats.org/drawingml/2006/main">
              <a:ext uri="{FF2B5EF4-FFF2-40B4-BE49-F238E27FC236}">
                <a16:creationId xmlns:a16="http://schemas.microsoft.com/office/drawing/2014/main" id="{8F630AB0-2899-485E-BE0A-25EE1CBF7A22}"/>
              </a:ext>
            </a:extLst>
          </p:cNvPr>
          <p:cNvSpPr>
            <a:spLocks xmlns:a="http://schemas.openxmlformats.org/drawingml/2006/main" noGrp="1"/>
          </p:cNvSpPr>
          <p:nvPr/>
        </p:nvSpPr>
        <p:spPr>
          <a:xfrm xmlns:a="http://schemas.openxmlformats.org/drawingml/2006/main">
            <a:off x="6291072" y="410527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i="0">
                <a:solidFill>
                  <a:srgbClr val="07162D"/>
                </a:solidFill>
                <a:latin typeface="Arial"/>
                <a:ea typeface="Arial"/>
                <a:cs typeface="Arial"/>
              </a:defRPr>
            </a:pPr>
            <a:r>
              <a:rPr sz="2700" b="1" i="0">
                <a:solidFill>
                  <a:srgbClr val="07162D"/>
                </a:solidFill>
                <a:latin typeface="Arial"/>
                <a:ea typeface="Arial"/>
                <a:cs typeface="Arial"/>
              </a:rPr>
              <a:t>≈ $0.62</a:t>
            </a:r>
          </a:p>
        </p:txBody>
      </p:sp>
      <p:sp>
        <p:nvSpPr>
          <p:cNvPr id="14" name="">
            <a:extLst xmlns:a="http://schemas.openxmlformats.org/drawingml/2006/main">
              <a:ext uri="{FF2B5EF4-FFF2-40B4-BE49-F238E27FC236}">
                <a16:creationId xmlns:a16="http://schemas.microsoft.com/office/drawing/2014/main" id="{E5497BBA-5DC1-4286-A8DC-EDDD26C000D3}"/>
              </a:ext>
            </a:extLst>
          </p:cNvPr>
          <p:cNvSpPr>
            <a:spLocks xmlns:a="http://schemas.openxmlformats.org/drawingml/2006/main" noGrp="1"/>
          </p:cNvSpPr>
          <p:nvPr/>
        </p:nvSpPr>
        <p:spPr>
          <a:xfrm xmlns:a="http://schemas.openxmlformats.org/drawingml/2006/main">
            <a:off x="6309360" y="4638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Jev · 1,000 input tokens / call</a:t>
            </a:r>
          </a:p>
        </p:txBody>
      </p:sp>
      <p:sp>
        <p:nvSpPr>
          <p:cNvPr id="15" name="">
            <a:extLst xmlns:a="http://schemas.openxmlformats.org/drawingml/2006/main">
              <a:ext uri="{FF2B5EF4-FFF2-40B4-BE49-F238E27FC236}">
                <a16:creationId xmlns:a16="http://schemas.microsoft.com/office/drawing/2014/main" id="{F654F343-E5EE-4A55-8D2B-D4C9FB8F1DD7}"/>
              </a:ext>
            </a:extLst>
          </p:cNvPr>
          <p:cNvSpPr>
            <a:spLocks xmlns:a="http://schemas.openxmlformats.org/drawingml/2006/main" noGrp="1"/>
          </p:cNvSpPr>
          <p:nvPr/>
        </p:nvSpPr>
        <p:spPr>
          <a:xfrm xmlns:a="http://schemas.openxmlformats.org/drawingml/2006/main">
            <a:off x="777240" y="5623560"/>
            <a:ext cx="1038225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950" b="0" i="0">
                <a:solidFill>
                  <a:srgbClr val="526174"/>
                </a:solidFill>
                <a:latin typeface="Arial"/>
                <a:ea typeface="Arial"/>
                <a:cs typeface="Arial"/>
                <a:hlinkClick xmlns:ns0="http://schemas.openxmlformats.org/officeDocument/2006/relationships" ns0:id="rId3"/>
              </a:rPr>
              <a:t>Jev rate: $0.042/M input tokens; output free (project-verified 3 Oct 2026; OpenRouter Jev docs). At 1,000 input tokens/return: $0.62/week; 500-1,500 tokens: $0.31-$0.94/week. Token use is assumed, not measured; confirm with response usage.cost. Model only; excludes retries and infrastructure.</a:t>
            </a:r>
          </a:p>
        </p:txBody>
      </p:sp>
      <p:sp xmlns:a="http://schemas.openxmlformats.org/drawingml/2006/main">
        <p:nvSpPr>
          <p:cNvPr id="17" name="TextBox 16"/>
          <p:cNvSpPr txBox="1"/>
          <p:nvPr/>
        </p:nvSpPr>
        <p:spPr>
          <a:xfrm>
            <a:off x="6309360" y="5166360"/>
            <a:ext cx="4754880" cy="384048"/>
          </a:xfrm>
          <a:prstGeom prst="rect">
            <a:avLst/>
          </a:prstGeom>
          <a:noFill/>
        </p:spPr>
        <p:txBody>
          <a:bodyPr wrap="square" lIns="18288" rIns="18288" tIns="9144" bIns="9144" anchor="ctr">
            <a:normAutofit/>
          </a:bodyPr>
          <a:lstStyle/>
          <a:p>
            <a:pPr algn="l"/>
            <a:r>
              <a:rPr sz="1400" b="1">
                <a:solidFill>
                  <a:srgbClr val="2B5F86"/>
                </a:solidFill>
                <a:latin typeface="Arial"/>
              </a:rPr>
              <a:t>≈ 89% lower at 1,000 tokens/call</a:t>
            </a:r>
          </a:p>
        </p:txBody>
      </p:sp>
    </p:spTree>
    <p:extLst>
      <p:ext uri="{BB962C8B-B14F-4D97-AF65-F5344CB8AC3E}">
        <p14:creationId xmlns:p14="http://schemas.microsoft.com/office/powerpoint/2010/main" val="1509167368"/>
      </p:ext>
    </p:extLst>
  </p:cSld>
</p:sld>
</file>

<file path=ppt/slides/slide9.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9A9B40-F969-4944-A726-1E8E3760399E}"/>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09 / PILOT DECISION · 1 MIN</a:t>
            </a:r>
          </a:p>
        </p:txBody>
      </p:sp>
      <p:sp>
        <p:nvSpPr>
          <p:cNvPr id="2" name="">
            <a:extLst xmlns:a="http://schemas.openxmlformats.org/drawingml/2006/main">
              <a:ext uri="{FF2B5EF4-FFF2-40B4-BE49-F238E27FC236}">
                <a16:creationId xmlns:a16="http://schemas.microsoft.com/office/drawing/2014/main" id="{54C03950-CF1B-4227-87AF-2E4714F232FD}"/>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Decision: sponsor a gated pilot</a:t>
            </a:r>
          </a:p>
        </p:txBody>
      </p:sp>
      <p:sp>
        <p:nvSpPr>
          <p:cNvPr id="3" name="">
            <a:extLst xmlns:a="http://schemas.openxmlformats.org/drawingml/2006/main">
              <a:ext uri="{FF2B5EF4-FFF2-40B4-BE49-F238E27FC236}">
                <a16:creationId xmlns:a16="http://schemas.microsoft.com/office/drawing/2014/main" id="{2575A0E9-8B55-472C-A355-E3CD2F76BB0A}"/>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09 / Pilot decision     |     Presenter: [Click to edit name]</a:t>
            </a:r>
          </a:p>
        </p:txBody>
      </p:sp>
      <p:sp>
        <p:nvSpPr>
          <p:cNvPr id="4" name="">
            <a:extLst xmlns:a="http://schemas.openxmlformats.org/drawingml/2006/main">
              <a:ext uri="{FF2B5EF4-FFF2-40B4-BE49-F238E27FC236}">
                <a16:creationId xmlns:a16="http://schemas.microsoft.com/office/drawing/2014/main" id="{1B1A7D1C-D26C-419B-AA6C-A08162CBF4A8}"/>
              </a:ext>
            </a:extLst>
          </p:cNvPr>
          <p:cNvSpPr>
            <a:spLocks xmlns:a="http://schemas.openxmlformats.org/drawingml/2006/main" noGrp="1"/>
          </p:cNvSpPr>
          <p:nvPr/>
        </p:nvSpPr>
        <p:spPr>
          <a:xfrm xmlns:a="http://schemas.openxmlformats.org/drawingml/2006/main">
            <a:off x="800100" y="18764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SCOPE</a:t>
            </a:r>
          </a:p>
        </p:txBody>
      </p:sp>
      <p:sp>
        <p:nvSpPr>
          <p:cNvPr id="5" name="">
            <a:extLst xmlns:a="http://schemas.openxmlformats.org/drawingml/2006/main">
              <a:ext uri="{FF2B5EF4-FFF2-40B4-BE49-F238E27FC236}">
                <a16:creationId xmlns:a16="http://schemas.microsoft.com/office/drawing/2014/main" id="{B24C839F-1F81-4C3C-9379-A6BC5A870B97}"/>
              </a:ext>
            </a:extLst>
          </p:cNvPr>
          <p:cNvSpPr>
            <a:spLocks xmlns:a="http://schemas.openxmlformats.org/drawingml/2006/main" noGrp="1"/>
          </p:cNvSpPr>
          <p:nvPr/>
        </p:nvSpPr>
        <p:spPr>
          <a:xfrm xmlns:a="http://schemas.openxmlformats.org/drawingml/2006/main">
            <a:off x="2609850" y="18573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Agree the first category slice and safe, de-identified sample before implementation.</a:t>
            </a:r>
          </a:p>
        </p:txBody>
      </p:sp>
      <p:sp>
        <p:nvSpPr>
          <p:cNvPr id="6" name="">
            <a:extLst xmlns:a="http://schemas.openxmlformats.org/drawingml/2006/main">
              <a:ext uri="{FF2B5EF4-FFF2-40B4-BE49-F238E27FC236}">
                <a16:creationId xmlns:a16="http://schemas.microsoft.com/office/drawing/2014/main" id="{2462409A-B5B5-45A8-A573-3DBEA818F192}"/>
              </a:ext>
            </a:extLst>
          </p:cNvPr>
          <p:cNvSpPr>
            <a:spLocks xmlns:a="http://schemas.openxmlformats.org/drawingml/2006/main" noGrp="1"/>
          </p:cNvSpPr>
          <p:nvPr/>
        </p:nvSpPr>
        <p:spPr>
          <a:xfrm xmlns:a="http://schemas.openxmlformats.org/drawingml/2006/main">
            <a:off x="800100" y="28289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OWNERS</a:t>
            </a:r>
          </a:p>
        </p:txBody>
      </p:sp>
      <p:sp>
        <p:nvSpPr>
          <p:cNvPr id="7" name="">
            <a:extLst xmlns:a="http://schemas.openxmlformats.org/drawingml/2006/main">
              <a:ext uri="{FF2B5EF4-FFF2-40B4-BE49-F238E27FC236}">
                <a16:creationId xmlns:a16="http://schemas.microsoft.com/office/drawing/2014/main" id="{3B1EEF79-D301-419E-8EEA-331298B3E3DE}"/>
              </a:ext>
            </a:extLst>
          </p:cNvPr>
          <p:cNvSpPr>
            <a:spLocks xmlns:a="http://schemas.openxmlformats.org/drawingml/2006/main" noGrp="1"/>
          </p:cNvSpPr>
          <p:nvPr/>
        </p:nvSpPr>
        <p:spPr>
          <a:xfrm xmlns:a="http://schemas.openxmlformats.org/drawingml/2006/main">
            <a:off x="2609850" y="28098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Category operations owns labels and review; Product/Engineering owns data, API and security implementation.</a:t>
            </a:r>
          </a:p>
        </p:txBody>
      </p:sp>
      <p:sp>
        <p:nvSpPr>
          <p:cNvPr id="8" name="">
            <a:extLst xmlns:a="http://schemas.openxmlformats.org/drawingml/2006/main">
              <a:ext uri="{FF2B5EF4-FFF2-40B4-BE49-F238E27FC236}">
                <a16:creationId xmlns:a16="http://schemas.microsoft.com/office/drawing/2014/main" id="{AB2C8238-53A4-46DC-B393-253E23FF18E0}"/>
              </a:ext>
            </a:extLst>
          </p:cNvPr>
          <p:cNvSpPr>
            <a:spLocks xmlns:a="http://schemas.openxmlformats.org/drawingml/2006/main" noGrp="1"/>
          </p:cNvSpPr>
          <p:nvPr/>
        </p:nvSpPr>
        <p:spPr>
          <a:xfrm xmlns:a="http://schemas.openxmlformats.org/drawingml/2006/main">
            <a:off x="800100" y="37814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GATES</a:t>
            </a:r>
          </a:p>
        </p:txBody>
      </p:sp>
      <p:sp>
        <p:nvSpPr>
          <p:cNvPr id="9" name="">
            <a:extLst xmlns:a="http://schemas.openxmlformats.org/drawingml/2006/main">
              <a:ext uri="{FF2B5EF4-FFF2-40B4-BE49-F238E27FC236}">
                <a16:creationId xmlns:a16="http://schemas.microsoft.com/office/drawing/2014/main" id="{D81CDE13-B27A-4031-AB48-5987A1754080}"/>
              </a:ext>
            </a:extLst>
          </p:cNvPr>
          <p:cNvSpPr>
            <a:spLocks xmlns:a="http://schemas.openxmlformats.org/drawingml/2006/main" noGrp="1"/>
          </p:cNvSpPr>
          <p:nvPr/>
        </p:nvSpPr>
        <p:spPr>
          <a:xfrm xmlns:a="http://schemas.openxmlformats.org/drawingml/2006/main">
            <a:off x="2609850" y="37623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Set an accuracy and coverage bar from the human-labeled holdout; do not scale on demo results.</a:t>
            </a:r>
          </a:p>
        </p:txBody>
      </p:sp>
      <p:sp>
        <p:nvSpPr>
          <p:cNvPr id="10" name="">
            <a:extLst xmlns:a="http://schemas.openxmlformats.org/drawingml/2006/main">
              <a:ext uri="{FF2B5EF4-FFF2-40B4-BE49-F238E27FC236}">
                <a16:creationId xmlns:a16="http://schemas.microsoft.com/office/drawing/2014/main" id="{C0B793B2-0FE6-47DA-9648-B3C10710EFD6}"/>
              </a:ext>
            </a:extLst>
          </p:cNvPr>
          <p:cNvSpPr>
            <a:spLocks xmlns:a="http://schemas.openxmlformats.org/drawingml/2006/main" noGrp="1"/>
          </p:cNvSpPr>
          <p:nvPr/>
        </p:nvSpPr>
        <p:spPr>
          <a:xfrm xmlns:a="http://schemas.openxmlformats.org/drawingml/2006/main">
            <a:off x="800100" y="47339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APPROVAL</a:t>
            </a:r>
          </a:p>
        </p:txBody>
      </p:sp>
      <p:sp>
        <p:nvSpPr>
          <p:cNvPr id="11" name="">
            <a:extLst xmlns:a="http://schemas.openxmlformats.org/drawingml/2006/main">
              <a:ext uri="{FF2B5EF4-FFF2-40B4-BE49-F238E27FC236}">
                <a16:creationId xmlns:a16="http://schemas.microsoft.com/office/drawing/2014/main" id="{96A93C7F-7848-46B3-92B7-44624A897B48}"/>
              </a:ext>
            </a:extLst>
          </p:cNvPr>
          <p:cNvSpPr>
            <a:spLocks xmlns:a="http://schemas.openxmlformats.org/drawingml/2006/main" noGrp="1"/>
          </p:cNvSpPr>
          <p:nvPr/>
        </p:nvSpPr>
        <p:spPr>
          <a:xfrm xmlns:a="http://schemas.openxmlformats.org/drawingml/2006/main">
            <a:off x="2609850" y="47148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Confirm privacy/security review, reviewer availability and the named sign-off owner.</a:t>
            </a:r>
          </a:p>
        </p:txBody>
      </p:sp>
      <p:sp>
        <p:nvSpPr>
          <p:cNvPr id="12" name="">
            <a:extLst xmlns:a="http://schemas.openxmlformats.org/drawingml/2006/main">
              <a:ext uri="{FF2B5EF4-FFF2-40B4-BE49-F238E27FC236}">
                <a16:creationId xmlns:a16="http://schemas.microsoft.com/office/drawing/2014/main" id="{1F118085-463E-41E0-815C-D8B027309EBD}"/>
              </a:ext>
            </a:extLst>
          </p:cNvPr>
          <p:cNvSpPr>
            <a:spLocks xmlns:a="http://schemas.openxmlformats.org/drawingml/2006/main" noGrp="1"/>
          </p:cNvSpPr>
          <p:nvPr/>
        </p:nvSpPr>
        <p:spPr>
          <a:xfrm xmlns:a="http://schemas.openxmlformats.org/drawingml/2006/main">
            <a:off x="800100" y="57721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2100" b="1" i="0">
                <a:solidFill>
                  <a:srgbClr val="2B5F86"/>
                </a:solidFill>
                <a:latin typeface="Arial"/>
                <a:ea typeface="Arial"/>
                <a:cs typeface="Arial"/>
              </a:defRPr>
            </a:pPr>
            <a:r>
              <a:rPr sz="2100" b="1" i="0">
                <a:solidFill>
                  <a:srgbClr val="2B5F86"/>
                </a:solidFill>
                <a:latin typeface="Arial"/>
                <a:ea typeface="Arial"/>
                <a:cs typeface="Arial"/>
              </a:rPr>
              <a:t>Can we name the sponsor and start the scoping session?</a:t>
            </a:r>
          </a:p>
        </p:txBody>
      </p:sp>
    </p:spTree>
    <p:extLst>
      <p:ext uri="{BB962C8B-B14F-4D97-AF65-F5344CB8AC3E}">
        <p14:creationId xmlns:p14="http://schemas.microsoft.com/office/powerpoint/2010/main" val="3934037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2026-10-01T21:23:10.4840000Z</dcterms:created>
  <dcterms:modified xsi:type="dcterms:W3CDTF">2026-10-01T21:23:10.4840000Z</dcterms:modified>
</coreProperties>
</file>