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6c8b58f34c427b" /><Relationship Type="http://schemas.openxmlformats.org/officeDocument/2006/relationships/extended-properties" Target="/docProps/app.xml" Id="R189640acff1f466d" /><Relationship Type="http://schemas.openxmlformats.org/officeDocument/2006/relationships/officeDocument" Target="/ppt/presentation.xml" Id="R8e6f16eb2b2944d3" /></Relationships>
</file>

<file path=ppt/presentation.xml><?xml version="1.0" encoding="utf-8"?>
<p:presentation xmlns:p="http://schemas.openxmlformats.org/presentationml/2006/main">
  <p:sldMasterIdLst>
    <p:sldMasterId xmlns:r="http://schemas.openxmlformats.org/officeDocument/2006/relationships" id="2147483648" r:id="Rc9c9af91eee84aae"/>
  </p:sldMasterIdLst>
  <p:notesMasterIdLst>
    <p:notesMasterId xmlns:r="http://schemas.openxmlformats.org/officeDocument/2006/relationships" r:id="Rebf19cc4d4104822"/>
  </p:notesMasterIdLst>
  <p:sldIdLst>
    <p:sldId xmlns:r="http://schemas.openxmlformats.org/officeDocument/2006/relationships" id="256" r:id="R2a033c2920a843ec"/>
    <p:sldId xmlns:r="http://schemas.openxmlformats.org/officeDocument/2006/relationships" id="257" r:id="Rb4e58e2560fd4af3"/>
    <p:sldId xmlns:r="http://schemas.openxmlformats.org/officeDocument/2006/relationships" id="258" r:id="R5f270ffef73d4841"/>
    <p:sldId xmlns:r="http://schemas.openxmlformats.org/officeDocument/2006/relationships" id="259" r:id="R5a2085a4f5b34819"/>
    <p:sldId xmlns:r="http://schemas.openxmlformats.org/officeDocument/2006/relationships" id="260" r:id="Rcbf31f1d25b44b78"/>
    <p:sldId xmlns:r="http://schemas.openxmlformats.org/officeDocument/2006/relationships" id="261" r:id="R68125e182d6c4e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509b9487e047a8" /><Relationship Type="http://schemas.openxmlformats.org/officeDocument/2006/relationships/slideMaster" Target="/ppt/slideMasters/slideMaster1.xml" Id="Rc9c9af91eee84aae" /><Relationship Type="http://schemas.openxmlformats.org/officeDocument/2006/relationships/notesMaster" Target="/ppt/notesMasters/notesMaster1.xml" Id="Rebf19cc4d4104822" /><Relationship Type="http://schemas.openxmlformats.org/officeDocument/2006/relationships/presProps" Target="/ppt/presProps.xml" Id="Re205586e94254ff1" /><Relationship Type="http://schemas.openxmlformats.org/officeDocument/2006/relationships/tableStyles" Target="/ppt/tableStyles.xml" Id="Re710252f4d4343cd" /><Relationship Type="http://schemas.openxmlformats.org/officeDocument/2006/relationships/slide" Target="/ppt/slides/slide1.xml" Id="R2a033c2920a843ec" /><Relationship Type="http://schemas.openxmlformats.org/officeDocument/2006/relationships/slide" Target="/ppt/slides/slide2.xml" Id="Rb4e58e2560fd4af3" /><Relationship Type="http://schemas.openxmlformats.org/officeDocument/2006/relationships/slide" Target="/ppt/slides/slide3.xml" Id="R5f270ffef73d4841" /><Relationship Type="http://schemas.openxmlformats.org/officeDocument/2006/relationships/slide" Target="/ppt/slides/slide4.xml" Id="R5a2085a4f5b34819" /><Relationship Type="http://schemas.openxmlformats.org/officeDocument/2006/relationships/slide" Target="/ppt/slides/slide5.xml" Id="Rcbf31f1d25b44b78" /><Relationship Type="http://schemas.openxmlformats.org/officeDocument/2006/relationships/slide" Target="/ppt/slides/slide6.xml" Id="R68125e182d6c4e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318b06930148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bbfb25084844a6" /><Relationship Type="http://schemas.openxmlformats.org/officeDocument/2006/relationships/notesMaster" Target="/ppt/notesMasters/notesMaster1.xml" Id="R3acf2c6c03704b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1ffc330668454d" /><Relationship Type="http://schemas.openxmlformats.org/officeDocument/2006/relationships/notesMaster" Target="/ppt/notesMasters/notesMaster1.xml" Id="R8a5e16f6af5949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84c7b540fe412c" /><Relationship Type="http://schemas.openxmlformats.org/officeDocument/2006/relationships/notesMaster" Target="/ppt/notesMasters/notesMaster1.xml" Id="R952e44fbf1bc4c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dcc495490b462c" /><Relationship Type="http://schemas.openxmlformats.org/officeDocument/2006/relationships/notesMaster" Target="/ppt/notesMasters/notesMaster1.xml" Id="Rfb2b9680545340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42ed5766c549e5" /><Relationship Type="http://schemas.openxmlformats.org/officeDocument/2006/relationships/notesMaster" Target="/ppt/notesMasters/notesMaster1.xml" Id="Rda9887827bb048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3c7be56066456f" /><Relationship Type="http://schemas.openxmlformats.org/officeDocument/2006/relationships/notesMaster" Target="/ppt/notesMasters/notesMaster1.xml" Id="Rd808f7d5123545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0:00–3:00. Presenter 1: replace the editable presenter field with the group member's name.</a:t>
            </a:r>
          </a:p>
          <a:p xmlns:a="http://schemas.openxmlformats.org/drawingml/2006/main">
            <a:r>
              <a:t>Open in Dhaga's language: many returns are placed in Other, while the category team sees fit issues when reading comments manually. Ask Ritu and Dev whether that matches their experience, then point to the 44% client-stated baseline.</a:t>
            </a:r>
          </a:p>
          <a:p xmlns:a="http://schemas.openxmlformats.org/drawingml/2006/main">
            <a:r>
              <a:t>The quote is attributed to Neha, Category Head, in docs/DISCOVERY_NOTE.md. Do not present this as a statistically sampled result; it is discovery evidence. The 44% figure is from the client engagement brief summarized in that note. Synthetic demo records are not client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3:00–6:00. Presenter 2: replace the editable presenter field with the group member's name.</a:t>
            </a:r>
          </a:p>
          <a:p xmlns:a="http://schemas.openxmlformats.org/drawingml/2006/main">
            <a:r>
              <a:t>Walk through the arithmetic: 48,000 client-reported weekly orders × 31% reported return rate = 14,880 returns per week. Apply the client-reported 44% Other share to get about 6,547, rounded to about 6,550 Other returns per week. This is an implied volume scenario, not a measured weekly dataset.</a:t>
            </a:r>
          </a:p>
          <a:p xmlns:a="http://schemas.openxmlformats.org/drawingml/2006/main">
            <a:r>
              <a:t>The brief also reports acquisition cost up 40% year over year and repeat purchase at 22% for six quarters. Do not claim the root-cause tool will reduce either metric or calculate savings; the acquisition attribution join and cost per return are not defined.</a:t>
            </a:r>
          </a:p>
          <a:p xmlns:a="http://schemas.openxmlformats.org/drawingml/2006/main">
            <a:r>
              <a:t>Our measurable commitment is a human-labeled holdout report with category/subcategory accuracy, usable-cause coverage, and review rate. Agree the acceptance threshold with Ritu and Dev before an expanded pilot.</a:t>
            </a:r>
          </a:p>
          <a:p xmlns:a="http://schemas.openxmlformats.org/drawingml/2006/main">
            <a:r>
              <a:t>Source: docs/DISCOVERY_NOTE.md (brief facts and ranked discovery). Derived arithmetic shown on-slide.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6:00–12:00. Presenter 3: replace the editable presenter field with the group member's name.</a:t>
            </a:r>
          </a:p>
          <a:p xmlns:a="http://schemas.openxmlformats.org/drawingml/2006/main">
            <a:r>
              <a:t>Pre-demo: open the stable UI URL above. The checked public page currently shows API address http://localhost:8000 and Not connected by default. Enter the production API's Aliased URL in API address and press Connect before the client arrives. The API URL was not supplied for this deck; use the real URL privately in the demo and do not leave localhost in place.</a:t>
            </a:r>
          </a:p>
          <a:p xmlns:a="http://schemas.openxmlformats.org/drawingml/2006/main">
            <a:r>
              <a:t>Use synthetic/test data only. The checked-in sample return RET-SAMPLE-001 has text: “The selected size felt too tight.” Repeated classification returns the stored analysis when one exists, so show that honestly as a saved result; do not promise a fresh model call. If it is not present in the live database, use a seeded test record that exists and update this slide/note before presenting.</a:t>
            </a:r>
          </a:p>
          <a:p xmlns:a="http://schemas.openxmlformats.org/drawingml/2006/main">
            <a:r>
              <a:t>Show the pending review queue only if a synthetic review is already pending. If no row is pending, explain the low-confidence/Other rule and avoid creating a false state on stage. The current checked-in returns fixture contains only one return; confirm the deployed database state in advance.</a:t>
            </a:r>
          </a:p>
          <a:p xmlns:a="http://schemas.openxmlformats.org/drawingml/2006/main">
            <a:r>
              <a:t>For the required failure case, submit RET-DEMO-MISSING-000 (or another confirmed nonexistent ID). The API checks for the return before calling a model and should return a visible not-found error. Explain that this failure is intentional and should not be saved as a classification.</a:t>
            </a:r>
          </a:p>
          <a:p xmlns:a="http://schemas.openxmlformats.org/drawingml/2006/main">
            <a:r>
              <a:t>Timing: 0:00–0:45 connect; 0:45–1:45 dashboard; 1:45–3:30 classification; 3:30–4:45 review path; 4:45–6:00 failure and questions. Be ready to shorten the review portion if no pending row exists.</a:t>
            </a:r>
          </a:p>
          <a:p xmlns:a="http://schemas.openxmlformats.org/drawingml/2006/main">
            <a:r>
              <a:t>Source: live UI URL provided by project owner; interface checked in Codex browser. The UI opened but was not connected to an API during that check. API behavior is based on app/api.py and docs/BUILD_NOTE.md.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12:00–14:00. Presenter 4: replace the editable presenter field with the group member's name.</a:t>
            </a:r>
          </a:p>
          <a:p xmlns:a="http://schemas.openxmlformats.org/drawingml/2006/main">
            <a:r>
              <a:t>Be explicit: these are proposed next steps, not functions already delivered. Ask Ritu to nominate the category owner for reviewing labels. Ask Dev to confirm the data path, fields, and owner for preparing the sample.</a:t>
            </a:r>
          </a:p>
          <a:p xmlns:a="http://schemas.openxmlformats.org/drawingml/2006/main">
            <a:r>
              <a:t>A proposed sample of about 15,000 weekly returns comes from 48,000 weekly orders × 31% client-reported return rate, rounded; it is a planning volume, not data currently loaded. Start with a smaller de-identified and approved pilot extract if that is operationally safer.</a:t>
            </a:r>
          </a:p>
          <a:p xmlns:a="http://schemas.openxmlformats.org/drawingml/2006/main">
            <a:r>
              <a:t>The current schema does not define an acquisition/campaign join, and size-chart effective dates/version handling need confirmation. We need Dhaga's source definitions before promising those analyses.</a:t>
            </a:r>
          </a:p>
          <a:p xmlns:a="http://schemas.openxmlformats.org/drawingml/2006/main">
            <a:r>
              <a:t>Close with concrete asks: data owner and sample timing; category reviewers; acceptance threshold; source details for vendor charts and acquisition attribution.</a:t>
            </a:r>
          </a:p>
          <a:p xmlns:a="http://schemas.openxmlformats.org/drawingml/2006/main">
            <a:r>
              <a:t>Source: docs/DISCOVERY_NOTE.md and README.md; known gaps summarized from the implementation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14:00–20:00. Presenter 5 facilitates. Replace the editable presenter field with the group member's name. Every other member should take at least one question, including those who presented earlier.</a:t>
            </a:r>
          </a:p>
          <a:p xmlns:a="http://schemas.openxmlformats.org/drawingml/2006/main">
            <a:r>
              <a:t>Cost answer: see appendix. The only available estimate is model-variable spend using assumed token counts, published OpenRouter rates, and a 10% escalation scenario. It excludes Vercel, Aiven, engineering/operations, data preparation, and taxes. We have not instrumented observed token use or production model spend. The Dhaga brief does not provide rupee cost per return, so do not claim ROI or savings.</a:t>
            </a:r>
          </a:p>
          <a:p xmlns:a="http://schemas.openxmlformats.org/drawingml/2006/main">
            <a:r>
              <a:t>Operations answer: ask who at Dhaga will own the category taxonomy and pending-review decisions. Engineering support owns hosting, the Aiven database, secrets, model availability, and deployment; exact on-call ownership still needs agreement.</a:t>
            </a:r>
          </a:p>
          <a:p xmlns:a="http://schemas.openxmlformats.org/drawingml/2006/main">
            <a:r>
              <a:t>Wrong-label answer: schema validation catches malformed/unsupported labels and the API surfaces provider/database errors. Low-confidence or Other cases queue for human review. Confidence is not calibrated; confident mistakes can pass. The proposed control is a human-labeled holdout and agreed threshold, not a claim of zero error.</a:t>
            </a:r>
          </a:p>
          <a:p xmlns:a="http://schemas.openxmlformats.org/drawingml/2006/main">
            <a:r>
              <a:t>Real-data answer: currently synthetic/sample data only. Before bringing comments to the public app, agree privacy, retention, allowed model processing, access control, and rate limiting. Do not expose the currently unauthenticated write/model operations to real data.</a:t>
            </a:r>
          </a:p>
          <a:p xmlns:a="http://schemas.openxmlformats.org/drawingml/2006/main">
            <a:r>
              <a:t>Leave roughly one minute at the end to capture decisions and owners. If no question comes, ask the closing question displayed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if cost detail is requested. Rates checked on 2 October 2026 from OpenRouter's model pricing pages. Rates and provider routes can change; refresh before presenting.</a:t>
            </a:r>
          </a:p>
          <a:p xmlns:a="http://schemas.openxmlformats.org/drawingml/2006/main">
            <a:r>
              <a:t>GPT-4.1 Mini listed rates: $0.40 per million input tokens and $1.60 per million output tokens. Estimate: (200×0.40 + 100×1.60)/1,000,000 = $0.00024.</a:t>
            </a:r>
          </a:p>
          <a:p xmlns:a="http://schemas.openxmlformats.org/drawingml/2006/main">
            <a:r>
              <a:t>GPT-4.1 listed rates: $2 per million input tokens and $8 per million output tokens. Assumed heavy prompt: (300×2 + 100×8)/1,000,000 = $0.0014 additional; total escalated call under these assumptions is $0.00164.</a:t>
            </a:r>
          </a:p>
          <a:p xmlns:a="http://schemas.openxmlformats.org/drawingml/2006/main">
            <a:r>
              <a:t>At 10% escalation: $0.00024 + 10%×$0.0014 = $0.00038/return. At 14,880 returns/week this equals $5.6544/week (about $294/year at 52 weeks). If all returns escalated, about $24.40/week under the same assumptions.</a:t>
            </a:r>
          </a:p>
          <a:p xmlns:a="http://schemas.openxmlformats.org/drawingml/2006/main">
            <a:r>
              <a:t>This is model-variable cost only. No observed token counts, escalation rate, actual bill, infrastructure, taxes, data work, or labor are included. Do not present as a forecast or ROI.</a:t>
            </a:r>
          </a:p>
          <a:p xmlns:a="http://schemas.openxmlformats.org/drawingml/2006/main">
            <a:r>
              <a:t>Sources: https://openrouter.ai/openai/gpt-4.1-mini and https://openrouter.ai/openai/gpt-4.1/pricing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5d729a765741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905e0c5ff54c8c" /><Relationship Type="http://schemas.openxmlformats.org/officeDocument/2006/relationships/slideLayout" Target="/ppt/slideLayouts/slideLayout1.xml" Id="R08fa8d4279a54e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fa8d4279a54e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4a6210b4894500" /><Relationship Type="http://schemas.openxmlformats.org/officeDocument/2006/relationships/notesSlide" Target="/ppt/notesSlides/notesSlide1.xml" Id="R0ec5ee94c99b48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e3f54b8a8942f2" /><Relationship Type="http://schemas.openxmlformats.org/officeDocument/2006/relationships/notesSlide" Target="/ppt/notesSlides/notesSlide2.xml" Id="Ra2951fcf8f874a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046154d812e49a8" /><Relationship Type="http://schemas.openxmlformats.org/officeDocument/2006/relationships/hyperlink" Target="https://root-cause-intelligence-web.vercel.app/" TargetMode="External" Id="Rf7a03b4610074107" /><Relationship Type="http://schemas.openxmlformats.org/officeDocument/2006/relationships/notesSlide" Target="/ppt/notesSlides/notesSlide3.xml" Id="R632ffe6b33fc42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f9ad1784e4464d" /><Relationship Type="http://schemas.openxmlformats.org/officeDocument/2006/relationships/notesSlide" Target="/ppt/notesSlides/notesSlide4.xml" Id="R1cca3219d4734f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56b8e1c38994f2d" /><Relationship Type="http://schemas.openxmlformats.org/officeDocument/2006/relationships/notesSlide" Target="/ppt/notesSlides/notesSlide5.xml" Id="R8529deed78ce4b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77634385a2476c" /><Relationship Type="http://schemas.openxmlformats.org/officeDocument/2006/relationships/notesSlide" Target="/ppt/notesSlides/notesSlide6.xml" Id="Rb0cba5a58fdf4bd8" /></Relationships>
</file>

<file path=ppt/slides/slide1.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BEDC90-FE17-4244-B06D-1620C8AC6A39}"/>
              </a:ext>
            </a:extLst>
          </p:cNvPr>
          <p:cNvSpPr>
            <a:spLocks xmlns:a="http://schemas.openxmlformats.org/drawingml/2006/main" noGrp="1"/>
          </p:cNvSpPr>
          <p:nvPr/>
        </p:nvSpPr>
        <p:spPr>
          <a:xfrm xmlns:a="http://schemas.openxmlformats.org/drawingml/2006/main">
            <a:off x="685800" y="400050"/>
            <a:ext cx="666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DHAGA &amp; CO.  /  CLIENT WORKING SESSION</a:t>
            </a:r>
          </a:p>
        </p:txBody>
      </p:sp>
      <p:sp>
        <p:nvSpPr>
          <p:cNvPr id="2" name="">
            <a:extLst xmlns:a="http://schemas.openxmlformats.org/drawingml/2006/main">
              <a:ext uri="{FF2B5EF4-FFF2-40B4-BE49-F238E27FC236}">
                <a16:creationId xmlns:a16="http://schemas.microsoft.com/office/drawing/2014/main" id="{8F787F04-E20B-4A14-891C-74E7005B6A9E}"/>
              </a:ext>
            </a:extLst>
          </p:cNvPr>
          <p:cNvSpPr>
            <a:spLocks xmlns:a="http://schemas.openxmlformats.org/drawingml/2006/main" noGrp="1"/>
          </p:cNvSpPr>
          <p:nvPr/>
        </p:nvSpPr>
        <p:spPr>
          <a:xfrm xmlns:a="http://schemas.openxmlformats.org/drawingml/2006/main">
            <a:off x="609600" y="1428750"/>
            <a:ext cx="4191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800" b="1" i="0">
                <a:solidFill>
                  <a:srgbClr val="D744C4"/>
                </a:solidFill>
                <a:latin typeface="Arial"/>
                <a:ea typeface="Arial"/>
                <a:cs typeface="Arial"/>
              </a:defRPr>
            </a:pPr>
            <a:r>
              <a:rPr sz="13800" b="1" i="0">
                <a:solidFill>
                  <a:srgbClr val="D744C4"/>
                </a:solidFill>
                <a:latin typeface="Arial"/>
                <a:ea typeface="Arial"/>
                <a:cs typeface="Arial"/>
              </a:rPr>
              <a:t>44%</a:t>
            </a:r>
          </a:p>
        </p:txBody>
      </p:sp>
      <p:sp>
        <p:nvSpPr>
          <p:cNvPr id="3" name="">
            <a:extLst xmlns:a="http://schemas.openxmlformats.org/drawingml/2006/main">
              <a:ext uri="{FF2B5EF4-FFF2-40B4-BE49-F238E27FC236}">
                <a16:creationId xmlns:a16="http://schemas.microsoft.com/office/drawing/2014/main" id="{11B9D2D2-DC26-4198-B66B-BF8D6E7F49FF}"/>
              </a:ext>
            </a:extLst>
          </p:cNvPr>
          <p:cNvSpPr>
            <a:spLocks xmlns:a="http://schemas.openxmlformats.org/drawingml/2006/main" noGrp="1"/>
          </p:cNvSpPr>
          <p:nvPr/>
        </p:nvSpPr>
        <p:spPr>
          <a:xfrm xmlns:a="http://schemas.openxmlformats.org/drawingml/2006/main">
            <a:off x="4953000" y="18097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i="0">
                <a:solidFill>
                  <a:srgbClr val="07162D"/>
                </a:solidFill>
                <a:latin typeface="Arial"/>
                <a:ea typeface="Arial"/>
                <a:cs typeface="Arial"/>
              </a:defRPr>
            </a:pPr>
            <a:r>
              <a:rPr sz="4650" b="1" i="0">
                <a:solidFill>
                  <a:srgbClr val="07162D"/>
                </a:solidFill>
                <a:latin typeface="Arial"/>
                <a:ea typeface="Arial"/>
                <a:cs typeface="Arial"/>
              </a:rPr>
              <a:t>of returns are</a:t>
            </a:r>
          </a:p>
          <a:p xmlns:a="http://schemas.openxmlformats.org/drawingml/2006/main">
            <a:pPr algn="l">
              <a:defRPr sz="4650" b="1" i="0">
                <a:solidFill>
                  <a:srgbClr val="07162D"/>
                </a:solidFill>
                <a:latin typeface="Arial"/>
                <a:ea typeface="Arial"/>
                <a:cs typeface="Arial"/>
              </a:defRPr>
            </a:pPr>
            <a:r>
              <a:rPr sz="4650" b="1" i="0">
                <a:solidFill>
                  <a:srgbClr val="07162D"/>
                </a:solidFill>
                <a:latin typeface="Arial"/>
                <a:ea typeface="Arial"/>
                <a:cs typeface="Arial"/>
              </a:rPr>
              <a:t>marked “Other”</a:t>
            </a:r>
          </a:p>
        </p:txBody>
      </p:sp>
      <p:sp>
        <p:nvSpPr>
          <p:cNvPr id="4" name="">
            <a:extLst xmlns:a="http://schemas.openxmlformats.org/drawingml/2006/main">
              <a:ext uri="{FF2B5EF4-FFF2-40B4-BE49-F238E27FC236}">
                <a16:creationId xmlns:a16="http://schemas.microsoft.com/office/drawing/2014/main" id="{25145469-194F-4A8A-98AD-EFA37D9E6CED}"/>
              </a:ext>
            </a:extLst>
          </p:cNvPr>
          <p:cNvSpPr>
            <a:spLocks xmlns:a="http://schemas.openxmlformats.org/drawingml/2006/main" noGrp="1"/>
          </p:cNvSpPr>
          <p:nvPr/>
        </p:nvSpPr>
        <p:spPr>
          <a:xfrm xmlns:a="http://schemas.openxmlformats.org/drawingml/2006/main">
            <a:off x="742950" y="3952875"/>
            <a:ext cx="106489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i="1">
                <a:solidFill>
                  <a:srgbClr val="2B5F86"/>
                </a:solidFill>
                <a:latin typeface="Arial"/>
                <a:ea typeface="Arial"/>
                <a:cs typeface="Arial"/>
              </a:defRPr>
            </a:pPr>
            <a:r>
              <a:rPr sz="1950" b="0" i="1">
                <a:solidFill>
                  <a:srgbClr val="2B5F86"/>
                </a:solidFill>
                <a:latin typeface="Arial"/>
                <a:ea typeface="Arial"/>
                <a:cs typeface="Arial"/>
              </a:rPr>
              <a:t>“When I read the Other box by hand, most of it is about fit, but I can only read a few hundred at a time.”</a:t>
            </a:r>
          </a:p>
        </p:txBody>
      </p:sp>
      <p:sp>
        <p:nvSpPr>
          <p:cNvPr id="5" name="">
            <a:extLst xmlns:a="http://schemas.openxmlformats.org/drawingml/2006/main">
              <a:ext uri="{FF2B5EF4-FFF2-40B4-BE49-F238E27FC236}">
                <a16:creationId xmlns:a16="http://schemas.microsoft.com/office/drawing/2014/main" id="{B872F640-7C31-4751-8656-E27D4EDBE6A8}"/>
              </a:ext>
            </a:extLst>
          </p:cNvPr>
          <p:cNvSpPr>
            <a:spLocks xmlns:a="http://schemas.openxmlformats.org/drawingml/2006/main" noGrp="1"/>
          </p:cNvSpPr>
          <p:nvPr/>
        </p:nvSpPr>
        <p:spPr>
          <a:xfrm xmlns:a="http://schemas.openxmlformats.org/drawingml/2006/main">
            <a:off x="762000" y="52197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7162D"/>
                </a:solidFill>
                <a:latin typeface="Arial"/>
                <a:ea typeface="Arial"/>
                <a:cs typeface="Arial"/>
              </a:defRPr>
            </a:pPr>
            <a:r>
              <a:rPr sz="1800" b="1" i="0">
                <a:solidFill>
                  <a:srgbClr val="07162D"/>
                </a:solidFill>
                <a:latin typeface="Arial"/>
                <a:ea typeface="Arial"/>
                <a:cs typeface="Arial"/>
              </a:rPr>
              <a:t>The question for category operations: which comments contain a useful fit cause?</a:t>
            </a:r>
          </a:p>
        </p:txBody>
      </p:sp>
      <p:sp>
        <p:nvSpPr>
          <p:cNvPr id="6" name="">
            <a:extLst xmlns:a="http://schemas.openxmlformats.org/drawingml/2006/main">
              <a:ext uri="{FF2B5EF4-FFF2-40B4-BE49-F238E27FC236}">
                <a16:creationId xmlns:a16="http://schemas.microsoft.com/office/drawing/2014/main" id="{6BF2DF73-407F-473B-9B4A-C98B47B3C44E}"/>
              </a:ext>
            </a:extLst>
          </p:cNvPr>
          <p:cNvSpPr>
            <a:spLocks xmlns:a="http://schemas.openxmlformats.org/drawingml/2006/main" noGrp="1"/>
          </p:cNvSpPr>
          <p:nvPr/>
        </p:nvSpPr>
        <p:spPr>
          <a:xfrm xmlns:a="http://schemas.openxmlformats.org/drawingml/2006/main">
            <a:off x="762000" y="59245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Client-reported baseline and Category Head interview, summarized in the discovery note. The demo uses synthetic records.</a:t>
            </a:r>
          </a:p>
        </p:txBody>
      </p:sp>
      <p:sp>
        <p:nvSpPr>
          <p:cNvPr id="7" name="">
            <a:extLst xmlns:a="http://schemas.openxmlformats.org/drawingml/2006/main">
              <a:ext uri="{FF2B5EF4-FFF2-40B4-BE49-F238E27FC236}">
                <a16:creationId xmlns:a16="http://schemas.microsoft.com/office/drawing/2014/main" id="{534F30F8-C2C7-4694-B89F-FDC27DFB90D7}"/>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01  /  THE PROBLEM · 3 MIN     |     Presenter: [Click to edit name]</a:t>
            </a:r>
          </a:p>
        </p:txBody>
      </p:sp>
    </p:spTree>
    <p:extLst>
      <p:ext uri="{BB962C8B-B14F-4D97-AF65-F5344CB8AC3E}">
        <p14:creationId xmlns:p14="http://schemas.microsoft.com/office/powerpoint/2010/main" val="1395972993"/>
      </p:ext>
    </p:extLst>
  </p:cSld>
</p:sld>
</file>

<file path=ppt/slides/slide2.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0EB8BD9-2540-427D-9573-8EAF258B8666}"/>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02 / WHY IT MATTERS · 3 MIN</a:t>
            </a:r>
          </a:p>
        </p:txBody>
      </p:sp>
      <p:sp>
        <p:nvSpPr>
          <p:cNvPr id="2" name="">
            <a:extLst xmlns:a="http://schemas.openxmlformats.org/drawingml/2006/main">
              <a:ext uri="{FF2B5EF4-FFF2-40B4-BE49-F238E27FC236}">
                <a16:creationId xmlns:a16="http://schemas.microsoft.com/office/drawing/2014/main" id="{A9EB293F-C65C-44DC-AD14-E34D8505F1DE}"/>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i="0">
                <a:solidFill>
                  <a:srgbClr val="07162D"/>
                </a:solidFill>
                <a:latin typeface="Arial"/>
                <a:ea typeface="Arial"/>
                <a:cs typeface="Arial"/>
              </a:defRPr>
            </a:pPr>
            <a:r>
              <a:rPr sz="3225" b="1" i="0">
                <a:solidFill>
                  <a:srgbClr val="07162D"/>
                </a:solidFill>
                <a:latin typeface="Arial"/>
                <a:ea typeface="Arial"/>
                <a:cs typeface="Arial"/>
              </a:rPr>
              <a:t>A pilot can measure the hidden workload</a:t>
            </a:r>
          </a:p>
        </p:txBody>
      </p:sp>
      <p:sp>
        <p:nvSpPr>
          <p:cNvPr id="3" name="">
            <a:extLst xmlns:a="http://schemas.openxmlformats.org/drawingml/2006/main">
              <a:ext uri="{FF2B5EF4-FFF2-40B4-BE49-F238E27FC236}">
                <a16:creationId xmlns:a16="http://schemas.microsoft.com/office/drawing/2014/main" id="{5C9AF8A1-DD07-4B67-919A-9107C86D5E94}"/>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02 / Why it matters     |     Presenter: [Click to edit name]</a:t>
            </a:r>
          </a:p>
        </p:txBody>
      </p:sp>
      <p:sp>
        <p:nvSpPr>
          <p:cNvPr id="4" name="">
            <a:extLst xmlns:a="http://schemas.openxmlformats.org/drawingml/2006/main">
              <a:ext uri="{FF2B5EF4-FFF2-40B4-BE49-F238E27FC236}">
                <a16:creationId xmlns:a16="http://schemas.microsoft.com/office/drawing/2014/main" id="{32056411-6DD2-4F84-AFBE-84B888C51BA6}"/>
              </a:ext>
            </a:extLst>
          </p:cNvPr>
          <p:cNvSpPr>
            <a:spLocks xmlns:a="http://schemas.openxmlformats.org/drawingml/2006/main" noGrp="1"/>
          </p:cNvSpPr>
          <p:nvPr/>
        </p:nvSpPr>
        <p:spPr>
          <a:xfrm xmlns:a="http://schemas.openxmlformats.org/drawingml/2006/main">
            <a:off x="742950" y="2000250"/>
            <a:ext cx="238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i="0">
                <a:solidFill>
                  <a:srgbClr val="07162D"/>
                </a:solidFill>
                <a:latin typeface="Arial"/>
                <a:ea typeface="Arial"/>
                <a:cs typeface="Arial"/>
              </a:defRPr>
            </a:pPr>
            <a:r>
              <a:rPr sz="4500" b="1" i="0">
                <a:solidFill>
                  <a:srgbClr val="07162D"/>
                </a:solidFill>
                <a:latin typeface="Arial"/>
                <a:ea typeface="Arial"/>
                <a:cs typeface="Arial"/>
              </a:rPr>
              <a:t>48,000</a:t>
            </a:r>
          </a:p>
        </p:txBody>
      </p:sp>
      <p:sp>
        <p:nvSpPr>
          <p:cNvPr id="5" name="">
            <a:extLst xmlns:a="http://schemas.openxmlformats.org/drawingml/2006/main">
              <a:ext uri="{FF2B5EF4-FFF2-40B4-BE49-F238E27FC236}">
                <a16:creationId xmlns:a16="http://schemas.microsoft.com/office/drawing/2014/main" id="{A3C8E3E8-87B4-437D-90B0-5BDBB9FB81B7}"/>
              </a:ext>
            </a:extLst>
          </p:cNvPr>
          <p:cNvSpPr>
            <a:spLocks xmlns:a="http://schemas.openxmlformats.org/drawingml/2006/main" noGrp="1"/>
          </p:cNvSpPr>
          <p:nvPr/>
        </p:nvSpPr>
        <p:spPr>
          <a:xfrm xmlns:a="http://schemas.openxmlformats.org/drawingml/2006/main">
            <a:off x="781050" y="2781300"/>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26174"/>
                </a:solidFill>
                <a:latin typeface="Arial"/>
                <a:ea typeface="Arial"/>
                <a:cs typeface="Arial"/>
              </a:defRPr>
            </a:pPr>
            <a:r>
              <a:rPr sz="1500" b="0" i="0">
                <a:solidFill>
                  <a:srgbClr val="526174"/>
                </a:solidFill>
                <a:latin typeface="Arial"/>
                <a:ea typeface="Arial"/>
                <a:cs typeface="Arial"/>
              </a:rPr>
              <a:t>weekly orders</a:t>
            </a:r>
          </a:p>
        </p:txBody>
      </p:sp>
      <p:sp>
        <p:nvSpPr>
          <p:cNvPr id="6" name="">
            <a:extLst xmlns:a="http://schemas.openxmlformats.org/drawingml/2006/main">
              <a:ext uri="{FF2B5EF4-FFF2-40B4-BE49-F238E27FC236}">
                <a16:creationId xmlns:a16="http://schemas.microsoft.com/office/drawing/2014/main" id="{C28973C9-6A65-47E2-BC49-A19A63A68C48}"/>
              </a:ext>
            </a:extLst>
          </p:cNvPr>
          <p:cNvSpPr>
            <a:spLocks xmlns:a="http://schemas.openxmlformats.org/drawingml/2006/main" noGrp="1"/>
          </p:cNvSpPr>
          <p:nvPr/>
        </p:nvSpPr>
        <p:spPr>
          <a:xfrm xmlns:a="http://schemas.openxmlformats.org/drawingml/2006/main">
            <a:off x="3429000" y="21526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i="0">
                <a:solidFill>
                  <a:srgbClr val="D744C4"/>
                </a:solidFill>
                <a:latin typeface="Arial"/>
                <a:ea typeface="Arial"/>
                <a:cs typeface="Arial"/>
              </a:defRPr>
            </a:pPr>
            <a:r>
              <a:rPr sz="3300" b="1" i="0">
                <a:solidFill>
                  <a:srgbClr val="D744C4"/>
                </a:solidFill>
                <a:latin typeface="Arial"/>
                <a:ea typeface="Arial"/>
                <a:cs typeface="Arial"/>
              </a:rPr>
              <a:t>× 31%</a:t>
            </a:r>
          </a:p>
        </p:txBody>
      </p:sp>
      <p:sp>
        <p:nvSpPr>
          <p:cNvPr id="7" name="">
            <a:extLst xmlns:a="http://schemas.openxmlformats.org/drawingml/2006/main">
              <a:ext uri="{FF2B5EF4-FFF2-40B4-BE49-F238E27FC236}">
                <a16:creationId xmlns:a16="http://schemas.microsoft.com/office/drawing/2014/main" id="{4FD81C18-006E-40E2-A0CD-D198CE2C2BD8}"/>
              </a:ext>
            </a:extLst>
          </p:cNvPr>
          <p:cNvSpPr>
            <a:spLocks xmlns:a="http://schemas.openxmlformats.org/drawingml/2006/main" noGrp="1"/>
          </p:cNvSpPr>
          <p:nvPr/>
        </p:nvSpPr>
        <p:spPr>
          <a:xfrm xmlns:a="http://schemas.openxmlformats.org/drawingml/2006/main">
            <a:off x="3448050" y="278130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26174"/>
                </a:solidFill>
                <a:latin typeface="Arial"/>
                <a:ea typeface="Arial"/>
                <a:cs typeface="Arial"/>
              </a:defRPr>
            </a:pPr>
            <a:r>
              <a:rPr sz="1500" b="0" i="0">
                <a:solidFill>
                  <a:srgbClr val="526174"/>
                </a:solidFill>
                <a:latin typeface="Arial"/>
                <a:ea typeface="Arial"/>
                <a:cs typeface="Arial"/>
              </a:rPr>
              <a:t>reported return rate</a:t>
            </a:r>
          </a:p>
        </p:txBody>
      </p:sp>
      <p:sp>
        <p:nvSpPr>
          <p:cNvPr id="8" name="">
            <a:extLst xmlns:a="http://schemas.openxmlformats.org/drawingml/2006/main">
              <a:ext uri="{FF2B5EF4-FFF2-40B4-BE49-F238E27FC236}">
                <a16:creationId xmlns:a16="http://schemas.microsoft.com/office/drawing/2014/main" id="{83B91157-2643-48D8-AEE6-5501F95517C4}"/>
              </a:ext>
            </a:extLst>
          </p:cNvPr>
          <p:cNvSpPr>
            <a:spLocks xmlns:a="http://schemas.openxmlformats.org/drawingml/2006/main" noGrp="1"/>
          </p:cNvSpPr>
          <p:nvPr/>
        </p:nvSpPr>
        <p:spPr>
          <a:xfrm xmlns:a="http://schemas.openxmlformats.org/drawingml/2006/main">
            <a:off x="6572250" y="1971675"/>
            <a:ext cx="295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i="0">
                <a:solidFill>
                  <a:srgbClr val="07162D"/>
                </a:solidFill>
                <a:latin typeface="Arial"/>
                <a:ea typeface="Arial"/>
                <a:cs typeface="Arial"/>
              </a:defRPr>
            </a:pPr>
            <a:r>
              <a:rPr sz="4275" b="1" i="0">
                <a:solidFill>
                  <a:srgbClr val="07162D"/>
                </a:solidFill>
                <a:latin typeface="Arial"/>
                <a:ea typeface="Arial"/>
                <a:cs typeface="Arial"/>
              </a:rPr>
              <a:t>≈14,880</a:t>
            </a:r>
          </a:p>
        </p:txBody>
      </p:sp>
      <p:sp>
        <p:nvSpPr>
          <p:cNvPr id="9" name="">
            <a:extLst xmlns:a="http://schemas.openxmlformats.org/drawingml/2006/main">
              <a:ext uri="{FF2B5EF4-FFF2-40B4-BE49-F238E27FC236}">
                <a16:creationId xmlns:a16="http://schemas.microsoft.com/office/drawing/2014/main" id="{E01BDB81-30A7-4EA3-8B37-7FA4271B7CE0}"/>
              </a:ext>
            </a:extLst>
          </p:cNvPr>
          <p:cNvSpPr>
            <a:spLocks xmlns:a="http://schemas.openxmlformats.org/drawingml/2006/main" noGrp="1"/>
          </p:cNvSpPr>
          <p:nvPr/>
        </p:nvSpPr>
        <p:spPr>
          <a:xfrm xmlns:a="http://schemas.openxmlformats.org/drawingml/2006/main">
            <a:off x="6619875" y="27813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26174"/>
                </a:solidFill>
                <a:latin typeface="Arial"/>
                <a:ea typeface="Arial"/>
                <a:cs typeface="Arial"/>
              </a:defRPr>
            </a:pPr>
            <a:r>
              <a:rPr sz="1500" b="0" i="0">
                <a:solidFill>
                  <a:srgbClr val="526174"/>
                </a:solidFill>
                <a:latin typeface="Arial"/>
                <a:ea typeface="Arial"/>
                <a:cs typeface="Arial"/>
              </a:rPr>
              <a:t>returns per week</a:t>
            </a:r>
          </a:p>
        </p:txBody>
      </p:sp>
      <p:sp>
        <p:nvSpPr>
          <p:cNvPr id="10" name="">
            <a:extLst xmlns:a="http://schemas.openxmlformats.org/drawingml/2006/main">
              <a:ext uri="{FF2B5EF4-FFF2-40B4-BE49-F238E27FC236}">
                <a16:creationId xmlns:a16="http://schemas.microsoft.com/office/drawing/2014/main" id="{B7D533EC-DD18-4551-8D72-E3FD3EC3F79B}"/>
              </a:ext>
            </a:extLst>
          </p:cNvPr>
          <p:cNvSpPr>
            <a:spLocks xmlns:a="http://schemas.openxmlformats.org/drawingml/2006/main" noGrp="1"/>
          </p:cNvSpPr>
          <p:nvPr/>
        </p:nvSpPr>
        <p:spPr>
          <a:xfrm xmlns:a="http://schemas.openxmlformats.org/drawingml/2006/main">
            <a:off x="742950" y="3524250"/>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i="0">
                <a:solidFill>
                  <a:srgbClr val="D744C4"/>
                </a:solidFill>
                <a:latin typeface="Arial"/>
                <a:ea typeface="Arial"/>
                <a:cs typeface="Arial"/>
              </a:defRPr>
            </a:pPr>
            <a:r>
              <a:rPr sz="2550" b="1" i="0">
                <a:solidFill>
                  <a:srgbClr val="D744C4"/>
                </a:solidFill>
                <a:latin typeface="Arial"/>
                <a:ea typeface="Arial"/>
                <a:cs typeface="Arial"/>
              </a:rPr>
              <a:t>× 44% “Other”</a:t>
            </a:r>
          </a:p>
        </p:txBody>
      </p:sp>
      <p:sp>
        <p:nvSpPr>
          <p:cNvPr id="11" name="">
            <a:extLst xmlns:a="http://schemas.openxmlformats.org/drawingml/2006/main">
              <a:ext uri="{FF2B5EF4-FFF2-40B4-BE49-F238E27FC236}">
                <a16:creationId xmlns:a16="http://schemas.microsoft.com/office/drawing/2014/main" id="{53976B3D-4269-48C6-A4E9-CCEB2B69AE59}"/>
              </a:ext>
            </a:extLst>
          </p:cNvPr>
          <p:cNvSpPr>
            <a:spLocks xmlns:a="http://schemas.openxmlformats.org/drawingml/2006/main" noGrp="1"/>
          </p:cNvSpPr>
          <p:nvPr/>
        </p:nvSpPr>
        <p:spPr>
          <a:xfrm xmlns:a="http://schemas.openxmlformats.org/drawingml/2006/main">
            <a:off x="4286250" y="3571875"/>
            <a:ext cx="709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07162D"/>
                </a:solidFill>
                <a:latin typeface="Arial"/>
                <a:ea typeface="Arial"/>
                <a:cs typeface="Arial"/>
              </a:defRPr>
            </a:pPr>
            <a:r>
              <a:rPr sz="2175" b="1" i="0">
                <a:solidFill>
                  <a:srgbClr val="07162D"/>
                </a:solidFill>
                <a:latin typeface="Arial"/>
                <a:ea typeface="Arial"/>
                <a:cs typeface="Arial"/>
              </a:rPr>
              <a:t>≈6,550 returns per week in the “Other” bucket</a:t>
            </a:r>
          </a:p>
        </p:txBody>
      </p:sp>
      <p:sp>
        <p:nvSpPr>
          <p:cNvPr id="12" name="">
            <a:extLst xmlns:a="http://schemas.openxmlformats.org/drawingml/2006/main">
              <a:ext uri="{FF2B5EF4-FFF2-40B4-BE49-F238E27FC236}">
                <a16:creationId xmlns:a16="http://schemas.microsoft.com/office/drawing/2014/main" id="{B65100D9-DAB0-4060-A76C-3CFA10B8433A}"/>
              </a:ext>
            </a:extLst>
          </p:cNvPr>
          <p:cNvSpPr>
            <a:spLocks xmlns:a="http://schemas.openxmlformats.org/drawingml/2006/main" noGrp="1"/>
          </p:cNvSpPr>
          <p:nvPr/>
        </p:nvSpPr>
        <p:spPr>
          <a:xfrm xmlns:a="http://schemas.openxmlformats.org/drawingml/2006/main">
            <a:off x="762000" y="45243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i="0">
                <a:solidFill>
                  <a:srgbClr val="2B5F86"/>
                </a:solidFill>
                <a:latin typeface="Arial"/>
                <a:ea typeface="Arial"/>
                <a:cs typeface="Arial"/>
              </a:defRPr>
            </a:pPr>
            <a:r>
              <a:rPr sz="1350" b="1" i="0">
                <a:solidFill>
                  <a:srgbClr val="2B5F86"/>
                </a:solidFill>
                <a:latin typeface="Arial"/>
                <a:ea typeface="Arial"/>
                <a:cs typeface="Arial"/>
              </a:rPr>
              <a:t>Business context</a:t>
            </a:r>
          </a:p>
        </p:txBody>
      </p:sp>
      <p:sp>
        <p:nvSpPr>
          <p:cNvPr id="13" name="">
            <a:extLst xmlns:a="http://schemas.openxmlformats.org/drawingml/2006/main">
              <a:ext uri="{FF2B5EF4-FFF2-40B4-BE49-F238E27FC236}">
                <a16:creationId xmlns:a16="http://schemas.microsoft.com/office/drawing/2014/main" id="{5B95AD6D-A95E-4A62-88E1-FF8AEBF1E087}"/>
              </a:ext>
            </a:extLst>
          </p:cNvPr>
          <p:cNvSpPr>
            <a:spLocks xmlns:a="http://schemas.openxmlformats.org/drawingml/2006/main" noGrp="1"/>
          </p:cNvSpPr>
          <p:nvPr/>
        </p:nvSpPr>
        <p:spPr>
          <a:xfrm xmlns:a="http://schemas.openxmlformats.org/drawingml/2006/main">
            <a:off x="2857500" y="4457700"/>
            <a:ext cx="847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Acquisition cost is up 40% year on year; repeat purchase has stayed at 22% for six quarters.</a:t>
            </a:r>
          </a:p>
        </p:txBody>
      </p:sp>
      <p:sp>
        <p:nvSpPr>
          <p:cNvPr id="14" name="">
            <a:extLst xmlns:a="http://schemas.openxmlformats.org/drawingml/2006/main">
              <a:ext uri="{FF2B5EF4-FFF2-40B4-BE49-F238E27FC236}">
                <a16:creationId xmlns:a16="http://schemas.microsoft.com/office/drawing/2014/main" id="{8A4197A1-ABF1-4D0D-9FE2-744EDD55DCD3}"/>
              </a:ext>
            </a:extLst>
          </p:cNvPr>
          <p:cNvSpPr>
            <a:spLocks xmlns:a="http://schemas.openxmlformats.org/drawingml/2006/main" noGrp="1"/>
          </p:cNvSpPr>
          <p:nvPr/>
        </p:nvSpPr>
        <p:spPr>
          <a:xfrm xmlns:a="http://schemas.openxmlformats.org/drawingml/2006/main">
            <a:off x="762000" y="49815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526174"/>
                </a:solidFill>
                <a:latin typeface="Arial"/>
                <a:ea typeface="Arial"/>
                <a:cs typeface="Arial"/>
              </a:defRPr>
            </a:pPr>
            <a:r>
              <a:rPr sz="1275" b="0" i="0">
                <a:solidFill>
                  <a:srgbClr val="526174"/>
                </a:solidFill>
                <a:latin typeface="Arial"/>
                <a:ea typeface="Arial"/>
                <a:cs typeface="Arial"/>
              </a:rPr>
              <a:t>These are client-reported signals, not proof that returns caused acquisition or retention changes. No rupee cost per return was provided.</a:t>
            </a:r>
          </a:p>
        </p:txBody>
      </p:sp>
      <p:sp>
        <p:nvSpPr>
          <p:cNvPr id="15" name="">
            <a:extLst xmlns:a="http://schemas.openxmlformats.org/drawingml/2006/main">
              <a:ext uri="{FF2B5EF4-FFF2-40B4-BE49-F238E27FC236}">
                <a16:creationId xmlns:a16="http://schemas.microsoft.com/office/drawing/2014/main" id="{50E59731-1CA5-457B-8564-14DCDEF24908}"/>
              </a:ext>
            </a:extLst>
          </p:cNvPr>
          <p:cNvSpPr>
            <a:spLocks xmlns:a="http://schemas.openxmlformats.org/drawingml/2006/main" noGrp="1"/>
          </p:cNvSpPr>
          <p:nvPr/>
        </p:nvSpPr>
        <p:spPr>
          <a:xfrm xmlns:a="http://schemas.openxmlformats.org/drawingml/2006/main">
            <a:off x="762000" y="56578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D744C4"/>
                </a:solidFill>
                <a:latin typeface="Arial"/>
                <a:ea typeface="Arial"/>
                <a:cs typeface="Arial"/>
              </a:defRPr>
            </a:pPr>
            <a:r>
              <a:rPr sz="1125" b="1" i="0">
                <a:solidFill>
                  <a:srgbClr val="D744C4"/>
                </a:solidFill>
                <a:latin typeface="Arial"/>
                <a:ea typeface="Arial"/>
                <a:cs typeface="Arial"/>
              </a:rPr>
              <a:t>OUR PILOT MEASURE</a:t>
            </a:r>
          </a:p>
        </p:txBody>
      </p:sp>
      <p:sp>
        <p:nvSpPr>
          <p:cNvPr id="16" name="">
            <a:extLst xmlns:a="http://schemas.openxmlformats.org/drawingml/2006/main">
              <a:ext uri="{FF2B5EF4-FFF2-40B4-BE49-F238E27FC236}">
                <a16:creationId xmlns:a16="http://schemas.microsoft.com/office/drawing/2014/main" id="{9EFA5459-9030-4536-8750-22FC08CA2734}"/>
              </a:ext>
            </a:extLst>
          </p:cNvPr>
          <p:cNvSpPr>
            <a:spLocks xmlns:a="http://schemas.openxmlformats.org/drawingml/2006/main" noGrp="1"/>
          </p:cNvSpPr>
          <p:nvPr/>
        </p:nvSpPr>
        <p:spPr>
          <a:xfrm xmlns:a="http://schemas.openxmlformats.org/drawingml/2006/main">
            <a:off x="2952750" y="5562600"/>
            <a:ext cx="838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i="0">
                <a:solidFill>
                  <a:srgbClr val="07162D"/>
                </a:solidFill>
                <a:latin typeface="Arial"/>
                <a:ea typeface="Arial"/>
                <a:cs typeface="Arial"/>
              </a:defRPr>
            </a:pPr>
            <a:r>
              <a:rPr sz="1425" b="1" i="0">
                <a:solidFill>
                  <a:srgbClr val="07162D"/>
                </a:solidFill>
                <a:latin typeface="Arial"/>
                <a:ea typeface="Arial"/>
                <a:cs typeface="Arial"/>
              </a:rPr>
              <a:t>Category / subcategory accuracy on a human-labeled holdout, with usable-cause coverage and review rate. Agree the pass threshold before scaling.</a:t>
            </a:r>
          </a:p>
        </p:txBody>
      </p:sp>
    </p:spTree>
    <p:extLst>
      <p:ext uri="{BB962C8B-B14F-4D97-AF65-F5344CB8AC3E}">
        <p14:creationId xmlns:p14="http://schemas.microsoft.com/office/powerpoint/2010/main" val="1236581563"/>
      </p:ext>
    </p:extLst>
  </p:cSld>
</p:sld>
</file>

<file path=ppt/slides/slide3.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AE146B7-765B-44AD-9657-C0CD79D63168}"/>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03 / LIVE DEMO · 6 MIN</a:t>
            </a:r>
          </a:p>
        </p:txBody>
      </p:sp>
      <p:sp>
        <p:nvSpPr>
          <p:cNvPr id="2" name="">
            <a:extLst xmlns:a="http://schemas.openxmlformats.org/drawingml/2006/main">
              <a:ext uri="{FF2B5EF4-FFF2-40B4-BE49-F238E27FC236}">
                <a16:creationId xmlns:a16="http://schemas.microsoft.com/office/drawing/2014/main" id="{A239A8E7-31A6-4C2E-807A-82F39E93E204}"/>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i="0">
                <a:solidFill>
                  <a:srgbClr val="07162D"/>
                </a:solidFill>
                <a:latin typeface="Arial"/>
                <a:ea typeface="Arial"/>
                <a:cs typeface="Arial"/>
              </a:defRPr>
            </a:pPr>
            <a:r>
              <a:rPr sz="3225" b="1" i="0">
                <a:solidFill>
                  <a:srgbClr val="07162D"/>
                </a:solidFill>
                <a:latin typeface="Arial"/>
                <a:ea typeface="Arial"/>
                <a:cs typeface="Arial"/>
              </a:rPr>
              <a:t>See the workflow on the live test app</a:t>
            </a:r>
          </a:p>
        </p:txBody>
      </p:sp>
      <p:sp>
        <p:nvSpPr>
          <p:cNvPr id="3" name="">
            <a:extLst xmlns:a="http://schemas.openxmlformats.org/drawingml/2006/main">
              <a:ext uri="{FF2B5EF4-FFF2-40B4-BE49-F238E27FC236}">
                <a16:creationId xmlns:a16="http://schemas.microsoft.com/office/drawing/2014/main" id="{B8B1E303-3895-498B-894E-C8DEF082EE45}"/>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03 / Live demo     |     Presenter: [Click to edit name]</a:t>
            </a:r>
          </a:p>
        </p:txBody>
      </p:sp>
      <p:sp>
        <p:nvSpPr>
          <p:cNvPr id="4" name="">
            <a:extLst xmlns:a="http://schemas.openxmlformats.org/drawingml/2006/main">
              <a:ext uri="{FF2B5EF4-FFF2-40B4-BE49-F238E27FC236}">
                <a16:creationId xmlns:a16="http://schemas.microsoft.com/office/drawing/2014/main" id="{CE723245-465E-410F-8688-9391FBF7A521}"/>
              </a:ext>
            </a:extLst>
          </p:cNvPr>
          <p:cNvSpPr>
            <a:spLocks xmlns:a="http://schemas.openxmlformats.org/drawingml/2006/main" noGrp="1"/>
          </p:cNvSpPr>
          <p:nvPr/>
        </p:nvSpPr>
        <p:spPr>
          <a:xfrm xmlns:a="http://schemas.openxmlformats.org/drawingml/2006/main">
            <a:off x="781050" y="18097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D744C4"/>
                </a:solidFill>
                <a:latin typeface="Arial"/>
                <a:ea typeface="Arial"/>
                <a:cs typeface="Arial"/>
              </a:defRPr>
            </a:pPr>
            <a:r>
              <a:rPr sz="1125" b="1" i="0">
                <a:solidFill>
                  <a:srgbClr val="D744C4"/>
                </a:solidFill>
                <a:latin typeface="Arial"/>
                <a:ea typeface="Arial"/>
                <a:cs typeface="Arial"/>
              </a:rPr>
              <a:t>OPEN THE UI</a:t>
            </a:r>
          </a:p>
        </p:txBody>
      </p:sp>
      <p:sp>
        <p:nvSpPr>
          <p:cNvPr id="5" name="">
            <a:extLst xmlns:a="http://schemas.openxmlformats.org/drawingml/2006/main">
              <a:ext uri="{FF2B5EF4-FFF2-40B4-BE49-F238E27FC236}">
                <a16:creationId xmlns:a16="http://schemas.microsoft.com/office/drawing/2014/main" id="{38F5B5F2-411D-46FB-9BA5-334A020545FC}"/>
              </a:ext>
            </a:extLst>
          </p:cNvPr>
          <p:cNvSpPr>
            <a:spLocks xmlns:a="http://schemas.openxmlformats.org/drawingml/2006/main" noGrp="1"/>
          </p:cNvSpPr>
          <p:nvPr/>
        </p:nvSpPr>
        <p:spPr>
          <a:xfrm xmlns:a="http://schemas.openxmlformats.org/drawingml/2006/main">
            <a:off x="781050" y="21336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i="0" u="sng">
                <a:solidFill>
                  <a:srgbClr val="2B5F86"/>
                </a:solidFill>
                <a:latin typeface="Arial"/>
                <a:ea typeface="Arial"/>
                <a:cs typeface="Arial"/>
              </a:defRPr>
            </a:pPr>
            <a:r>
              <a:rPr sz="1725" b="1" u="sng">
                <a:solidFill>
                  <a:srgbClr val="2B5F86"/>
                </a:solidFill>
                <a:latin typeface="Arial"/>
                <a:ea typeface="Arial"/>
                <a:cs typeface="Arial"/>
                <a:hlinkClick xmlns:r="http://schemas.openxmlformats.org/officeDocument/2006/relationships" r:id="Rf7a03b4610074107"/>
              </a:rPr>
              <a:t>https://root-cause-intelligence-web.vercel.app/</a:t>
            </a:r>
          </a:p>
        </p:txBody>
      </p:sp>
      <p:sp>
        <p:nvSpPr>
          <p:cNvPr id="6" name="">
            <a:extLst xmlns:a="http://schemas.openxmlformats.org/drawingml/2006/main">
              <a:ext uri="{FF2B5EF4-FFF2-40B4-BE49-F238E27FC236}">
                <a16:creationId xmlns:a16="http://schemas.microsoft.com/office/drawing/2014/main" id="{6F868FBA-E5A9-424A-AED2-800B6DE322AA}"/>
              </a:ext>
            </a:extLst>
          </p:cNvPr>
          <p:cNvSpPr>
            <a:spLocks xmlns:a="http://schemas.openxmlformats.org/drawingml/2006/main" noGrp="1"/>
          </p:cNvSpPr>
          <p:nvPr/>
        </p:nvSpPr>
        <p:spPr>
          <a:xfrm xmlns:a="http://schemas.openxmlformats.org/drawingml/2006/main">
            <a:off x="809625" y="287655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0:00</a:t>
            </a:r>
          </a:p>
        </p:txBody>
      </p:sp>
      <p:sp>
        <p:nvSpPr>
          <p:cNvPr id="7" name="">
            <a:extLst xmlns:a="http://schemas.openxmlformats.org/drawingml/2006/main">
              <a:ext uri="{FF2B5EF4-FFF2-40B4-BE49-F238E27FC236}">
                <a16:creationId xmlns:a16="http://schemas.microsoft.com/office/drawing/2014/main" id="{40ECE509-0981-4A8E-AC61-DF68664171F1}"/>
              </a:ext>
            </a:extLst>
          </p:cNvPr>
          <p:cNvSpPr>
            <a:spLocks xmlns:a="http://schemas.openxmlformats.org/drawingml/2006/main" noGrp="1"/>
          </p:cNvSpPr>
          <p:nvPr/>
        </p:nvSpPr>
        <p:spPr>
          <a:xfrm xmlns:a="http://schemas.openxmlformats.org/drawingml/2006/main">
            <a:off x="1885950" y="28765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Connect to the production API; confirm the dashboard loads.</a:t>
            </a:r>
          </a:p>
        </p:txBody>
      </p:sp>
      <p:sp>
        <p:nvSpPr>
          <p:cNvPr id="8" name="">
            <a:extLst xmlns:a="http://schemas.openxmlformats.org/drawingml/2006/main">
              <a:ext uri="{FF2B5EF4-FFF2-40B4-BE49-F238E27FC236}">
                <a16:creationId xmlns:a16="http://schemas.microsoft.com/office/drawing/2014/main" id="{08A2A5C9-87F4-4CC3-848D-ADA6BB190B76}"/>
              </a:ext>
            </a:extLst>
          </p:cNvPr>
          <p:cNvSpPr>
            <a:spLocks xmlns:a="http://schemas.openxmlformats.org/drawingml/2006/main" noGrp="1"/>
          </p:cNvSpPr>
          <p:nvPr/>
        </p:nvSpPr>
        <p:spPr>
          <a:xfrm xmlns:a="http://schemas.openxmlformats.org/drawingml/2006/main">
            <a:off x="809625" y="3457575"/>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1:00</a:t>
            </a:r>
          </a:p>
        </p:txBody>
      </p:sp>
      <p:sp>
        <p:nvSpPr>
          <p:cNvPr id="9" name="">
            <a:extLst xmlns:a="http://schemas.openxmlformats.org/drawingml/2006/main">
              <a:ext uri="{FF2B5EF4-FFF2-40B4-BE49-F238E27FC236}">
                <a16:creationId xmlns:a16="http://schemas.microsoft.com/office/drawing/2014/main" id="{471B1CBC-F0D1-4E3C-8F2B-FE84FFE6807A}"/>
              </a:ext>
            </a:extLst>
          </p:cNvPr>
          <p:cNvSpPr>
            <a:spLocks xmlns:a="http://schemas.openxmlformats.org/drawingml/2006/main" noGrp="1"/>
          </p:cNvSpPr>
          <p:nvPr/>
        </p:nvSpPr>
        <p:spPr>
          <a:xfrm xmlns:a="http://schemas.openxmlformats.org/drawingml/2006/main">
            <a:off x="1885950" y="345757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Review the Other share and available SKU/category insights.</a:t>
            </a:r>
          </a:p>
        </p:txBody>
      </p:sp>
      <p:sp>
        <p:nvSpPr>
          <p:cNvPr id="10" name="">
            <a:extLst xmlns:a="http://schemas.openxmlformats.org/drawingml/2006/main">
              <a:ext uri="{FF2B5EF4-FFF2-40B4-BE49-F238E27FC236}">
                <a16:creationId xmlns:a16="http://schemas.microsoft.com/office/drawing/2014/main" id="{122A7433-4C5C-4FF9-99EC-B8BD238D4193}"/>
              </a:ext>
            </a:extLst>
          </p:cNvPr>
          <p:cNvSpPr>
            <a:spLocks xmlns:a="http://schemas.openxmlformats.org/drawingml/2006/main" noGrp="1"/>
          </p:cNvSpPr>
          <p:nvPr/>
        </p:nvSpPr>
        <p:spPr>
          <a:xfrm xmlns:a="http://schemas.openxmlformats.org/drawingml/2006/main">
            <a:off x="809625" y="403860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2:00</a:t>
            </a:r>
          </a:p>
        </p:txBody>
      </p:sp>
      <p:sp>
        <p:nvSpPr>
          <p:cNvPr id="11" name="">
            <a:extLst xmlns:a="http://schemas.openxmlformats.org/drawingml/2006/main">
              <a:ext uri="{FF2B5EF4-FFF2-40B4-BE49-F238E27FC236}">
                <a16:creationId xmlns:a16="http://schemas.microsoft.com/office/drawing/2014/main" id="{21C90144-B4E9-4F1B-AD53-153E17890E6A}"/>
              </a:ext>
            </a:extLst>
          </p:cNvPr>
          <p:cNvSpPr>
            <a:spLocks xmlns:a="http://schemas.openxmlformats.org/drawingml/2006/main" noGrp="1"/>
          </p:cNvSpPr>
          <p:nvPr/>
        </p:nvSpPr>
        <p:spPr>
          <a:xfrm xmlns:a="http://schemas.openxmlformats.org/drawingml/2006/main">
            <a:off x="1885950" y="403860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Classify RET-SAMPLE-001: “The selected size felt too tight.”</a:t>
            </a:r>
          </a:p>
        </p:txBody>
      </p:sp>
      <p:sp>
        <p:nvSpPr>
          <p:cNvPr id="12" name="">
            <a:extLst xmlns:a="http://schemas.openxmlformats.org/drawingml/2006/main">
              <a:ext uri="{FF2B5EF4-FFF2-40B4-BE49-F238E27FC236}">
                <a16:creationId xmlns:a16="http://schemas.microsoft.com/office/drawing/2014/main" id="{C252F8B8-D3D7-48F7-A286-442B1055C80D}"/>
              </a:ext>
            </a:extLst>
          </p:cNvPr>
          <p:cNvSpPr>
            <a:spLocks xmlns:a="http://schemas.openxmlformats.org/drawingml/2006/main" noGrp="1"/>
          </p:cNvSpPr>
          <p:nvPr/>
        </p:nvSpPr>
        <p:spPr>
          <a:xfrm xmlns:a="http://schemas.openxmlformats.org/drawingml/2006/main">
            <a:off x="809625" y="4619625"/>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3:30</a:t>
            </a:r>
          </a:p>
        </p:txBody>
      </p:sp>
      <p:sp>
        <p:nvSpPr>
          <p:cNvPr id="13" name="">
            <a:extLst xmlns:a="http://schemas.openxmlformats.org/drawingml/2006/main">
              <a:ext uri="{FF2B5EF4-FFF2-40B4-BE49-F238E27FC236}">
                <a16:creationId xmlns:a16="http://schemas.microsoft.com/office/drawing/2014/main" id="{6A35FCB2-024C-481D-B000-B0938D53FA6E}"/>
              </a:ext>
            </a:extLst>
          </p:cNvPr>
          <p:cNvSpPr>
            <a:spLocks xmlns:a="http://schemas.openxmlformats.org/drawingml/2006/main" noGrp="1"/>
          </p:cNvSpPr>
          <p:nvPr/>
        </p:nvSpPr>
        <p:spPr>
          <a:xfrm xmlns:a="http://schemas.openxmlformats.org/drawingml/2006/main">
            <a:off x="1885950" y="46196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Show the human-review queue if a test case is pending.</a:t>
            </a:r>
          </a:p>
        </p:txBody>
      </p:sp>
      <p:sp>
        <p:nvSpPr>
          <p:cNvPr id="14" name="">
            <a:extLst xmlns:a="http://schemas.openxmlformats.org/drawingml/2006/main">
              <a:ext uri="{FF2B5EF4-FFF2-40B4-BE49-F238E27FC236}">
                <a16:creationId xmlns:a16="http://schemas.microsoft.com/office/drawing/2014/main" id="{FD9F1207-0EBC-4A9D-BCDB-69A6D9E3BE1C}"/>
              </a:ext>
            </a:extLst>
          </p:cNvPr>
          <p:cNvSpPr>
            <a:spLocks xmlns:a="http://schemas.openxmlformats.org/drawingml/2006/main" noGrp="1"/>
          </p:cNvSpPr>
          <p:nvPr/>
        </p:nvSpPr>
        <p:spPr>
          <a:xfrm xmlns:a="http://schemas.openxmlformats.org/drawingml/2006/main">
            <a:off x="809625" y="520065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5:00</a:t>
            </a:r>
          </a:p>
        </p:txBody>
      </p:sp>
      <p:sp>
        <p:nvSpPr>
          <p:cNvPr id="15" name="">
            <a:extLst xmlns:a="http://schemas.openxmlformats.org/drawingml/2006/main">
              <a:ext uri="{FF2B5EF4-FFF2-40B4-BE49-F238E27FC236}">
                <a16:creationId xmlns:a16="http://schemas.microsoft.com/office/drawing/2014/main" id="{C18AFCB6-8BCB-482A-A0DF-9D087004475F}"/>
              </a:ext>
            </a:extLst>
          </p:cNvPr>
          <p:cNvSpPr>
            <a:spLocks xmlns:a="http://schemas.openxmlformats.org/drawingml/2006/main" noGrp="1"/>
          </p:cNvSpPr>
          <p:nvPr/>
        </p:nvSpPr>
        <p:spPr>
          <a:xfrm xmlns:a="http://schemas.openxmlformats.org/drawingml/2006/main">
            <a:off x="1885950" y="52006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Try RET-DEMO-MISSING-000 to show the intentional not-found failure.</a:t>
            </a:r>
          </a:p>
        </p:txBody>
      </p:sp>
      <p:sp>
        <p:nvSpPr>
          <p:cNvPr id="16" name="">
            <a:extLst xmlns:a="http://schemas.openxmlformats.org/drawingml/2006/main">
              <a:ext uri="{FF2B5EF4-FFF2-40B4-BE49-F238E27FC236}">
                <a16:creationId xmlns:a16="http://schemas.microsoft.com/office/drawing/2014/main" id="{7A76A75D-264F-475F-9D92-25621C7DCEE3}"/>
              </a:ext>
            </a:extLst>
          </p:cNvPr>
          <p:cNvSpPr>
            <a:spLocks xmlns:a="http://schemas.openxmlformats.org/drawingml/2006/main" noGrp="1"/>
          </p:cNvSpPr>
          <p:nvPr/>
        </p:nvSpPr>
        <p:spPr>
          <a:xfrm xmlns:a="http://schemas.openxmlformats.org/drawingml/2006/main">
            <a:off x="800100" y="59150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526174"/>
                </a:solidFill>
                <a:latin typeface="Arial"/>
                <a:ea typeface="Arial"/>
                <a:cs typeface="Arial"/>
              </a:defRPr>
            </a:pPr>
            <a:r>
              <a:rPr sz="1200" b="1" i="0">
                <a:solidFill>
                  <a:srgbClr val="526174"/>
                </a:solidFill>
                <a:latin typeface="Arial"/>
                <a:ea typeface="Arial"/>
                <a:cs typeface="Arial"/>
              </a:rPr>
              <a:t>Synthetic sample data only · Do not describe demo counts as Dhaga production results</a:t>
            </a:r>
          </a:p>
        </p:txBody>
      </p:sp>
    </p:spTree>
    <p:extLst>
      <p:ext uri="{BB962C8B-B14F-4D97-AF65-F5344CB8AC3E}">
        <p14:creationId xmlns:p14="http://schemas.microsoft.com/office/powerpoint/2010/main" val="1747464164"/>
      </p:ext>
    </p:extLst>
  </p:cSld>
</p:sld>
</file>

<file path=ppt/slides/slide4.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41618A2-B9B0-4738-B845-3FFDECF8755F}"/>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04 / WHAT WE WOULD BUILD NEXT · 2 MIN</a:t>
            </a:r>
          </a:p>
        </p:txBody>
      </p:sp>
      <p:sp>
        <p:nvSpPr>
          <p:cNvPr id="2" name="">
            <a:extLst xmlns:a="http://schemas.openxmlformats.org/drawingml/2006/main">
              <a:ext uri="{FF2B5EF4-FFF2-40B4-BE49-F238E27FC236}">
                <a16:creationId xmlns:a16="http://schemas.microsoft.com/office/drawing/2014/main" id="{20EC09FD-C107-4316-9547-BE5A02E80873}"/>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i="0">
                <a:solidFill>
                  <a:srgbClr val="07162D"/>
                </a:solidFill>
                <a:latin typeface="Arial"/>
                <a:ea typeface="Arial"/>
                <a:cs typeface="Arial"/>
              </a:defRPr>
            </a:pPr>
            <a:r>
              <a:rPr sz="3150" b="1" i="0">
                <a:solidFill>
                  <a:srgbClr val="07162D"/>
                </a:solidFill>
                <a:latin typeface="Arial"/>
                <a:ea typeface="Arial"/>
                <a:cs typeface="Arial"/>
              </a:rPr>
              <a:t>The next version needs Dhaga data and agreement</a:t>
            </a:r>
          </a:p>
        </p:txBody>
      </p:sp>
      <p:sp>
        <p:nvSpPr>
          <p:cNvPr id="3" name="">
            <a:extLst xmlns:a="http://schemas.openxmlformats.org/drawingml/2006/main">
              <a:ext uri="{FF2B5EF4-FFF2-40B4-BE49-F238E27FC236}">
                <a16:creationId xmlns:a16="http://schemas.microsoft.com/office/drawing/2014/main" id="{1479FFEB-BB4A-4DD5-AF04-B1AF7B83CA52}"/>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04 / What we would build next     |     Presenter: [Click to edit name]</a:t>
            </a:r>
          </a:p>
        </p:txBody>
      </p:sp>
      <p:sp>
        <p:nvSpPr>
          <p:cNvPr id="4" name="">
            <a:extLst xmlns:a="http://schemas.openxmlformats.org/drawingml/2006/main">
              <a:ext uri="{FF2B5EF4-FFF2-40B4-BE49-F238E27FC236}">
                <a16:creationId xmlns:a16="http://schemas.microsoft.com/office/drawing/2014/main" id="{1D71B23A-CA83-4F24-B114-0E2F97BBBC49}"/>
              </a:ext>
            </a:extLst>
          </p:cNvPr>
          <p:cNvSpPr>
            <a:spLocks xmlns:a="http://schemas.openxmlformats.org/drawingml/2006/main" noGrp="1"/>
          </p:cNvSpPr>
          <p:nvPr/>
        </p:nvSpPr>
        <p:spPr>
          <a:xfrm xmlns:a="http://schemas.openxmlformats.org/drawingml/2006/main">
            <a:off x="781050" y="195262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i="0">
                <a:solidFill>
                  <a:srgbClr val="D744C4"/>
                </a:solidFill>
                <a:latin typeface="Arial"/>
                <a:ea typeface="Arial"/>
                <a:cs typeface="Arial"/>
              </a:defRPr>
            </a:pPr>
            <a:r>
              <a:rPr sz="2625" b="1" i="0">
                <a:solidFill>
                  <a:srgbClr val="D744C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87D2B70-3C48-431F-8E28-B46C6A1B0B6E}"/>
              </a:ext>
            </a:extLst>
          </p:cNvPr>
          <p:cNvSpPr>
            <a:spLocks xmlns:a="http://schemas.openxmlformats.org/drawingml/2006/main" noGrp="1"/>
          </p:cNvSpPr>
          <p:nvPr/>
        </p:nvSpPr>
        <p:spPr>
          <a:xfrm xmlns:a="http://schemas.openxmlformats.org/drawingml/2006/main">
            <a:off x="1619250" y="19526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07162D"/>
                </a:solidFill>
                <a:latin typeface="Arial"/>
                <a:ea typeface="Arial"/>
                <a:cs typeface="Arial"/>
              </a:defRPr>
            </a:pPr>
            <a:r>
              <a:rPr sz="1875" b="1" i="0">
                <a:solidFill>
                  <a:srgbClr val="07162D"/>
                </a:solidFill>
                <a:latin typeface="Arial"/>
                <a:ea typeface="Arial"/>
                <a:cs typeface="Arial"/>
              </a:rPr>
              <a:t>A source-shaped return sample</a:t>
            </a:r>
          </a:p>
        </p:txBody>
      </p:sp>
      <p:sp>
        <p:nvSpPr>
          <p:cNvPr id="6" name="">
            <a:extLst xmlns:a="http://schemas.openxmlformats.org/drawingml/2006/main">
              <a:ext uri="{FF2B5EF4-FFF2-40B4-BE49-F238E27FC236}">
                <a16:creationId xmlns:a16="http://schemas.microsoft.com/office/drawing/2014/main" id="{42A96F39-43A8-4976-84E1-F9BB0D7E1B06}"/>
              </a:ext>
            </a:extLst>
          </p:cNvPr>
          <p:cNvSpPr>
            <a:spLocks xmlns:a="http://schemas.openxmlformats.org/drawingml/2006/main" noGrp="1"/>
          </p:cNvSpPr>
          <p:nvPr/>
        </p:nvSpPr>
        <p:spPr>
          <a:xfrm xmlns:a="http://schemas.openxmlformats.org/drawingml/2006/main">
            <a:off x="1619250" y="2371725"/>
            <a:ext cx="966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526174"/>
                </a:solidFill>
                <a:latin typeface="Arial"/>
                <a:ea typeface="Arial"/>
                <a:cs typeface="Arial"/>
              </a:defRPr>
            </a:pPr>
            <a:r>
              <a:rPr sz="1350" b="0" i="0">
                <a:solidFill>
                  <a:srgbClr val="526174"/>
                </a:solidFill>
                <a:latin typeface="Arial"/>
                <a:ea typeface="Arial"/>
                <a:cs typeface="Arial"/>
              </a:rPr>
              <a:t>Agree scope and fields for a de-identified sample that reflects the reported weekly volume. The current demo has synthetic records, not the proposed 15,000-return dataset.</a:t>
            </a:r>
          </a:p>
        </p:txBody>
      </p:sp>
      <p:sp>
        <p:nvSpPr>
          <p:cNvPr id="7" name="">
            <a:extLst xmlns:a="http://schemas.openxmlformats.org/drawingml/2006/main">
              <a:ext uri="{FF2B5EF4-FFF2-40B4-BE49-F238E27FC236}">
                <a16:creationId xmlns:a16="http://schemas.microsoft.com/office/drawing/2014/main" id="{2950ACCA-12FE-45CB-92DB-50BD2106D47B}"/>
              </a:ext>
            </a:extLst>
          </p:cNvPr>
          <p:cNvSpPr>
            <a:spLocks xmlns:a="http://schemas.openxmlformats.org/drawingml/2006/main" noGrp="1"/>
          </p:cNvSpPr>
          <p:nvPr/>
        </p:nvSpPr>
        <p:spPr>
          <a:xfrm xmlns:a="http://schemas.openxmlformats.org/drawingml/2006/main">
            <a:off x="781050" y="320992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i="0">
                <a:solidFill>
                  <a:srgbClr val="D744C4"/>
                </a:solidFill>
                <a:latin typeface="Arial"/>
                <a:ea typeface="Arial"/>
                <a:cs typeface="Arial"/>
              </a:defRPr>
            </a:pPr>
            <a:r>
              <a:rPr sz="2625" b="1" i="0">
                <a:solidFill>
                  <a:srgbClr val="D744C4"/>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661D6EC-5D35-41DD-A355-E33D6E7F9A65}"/>
              </a:ext>
            </a:extLst>
          </p:cNvPr>
          <p:cNvSpPr>
            <a:spLocks xmlns:a="http://schemas.openxmlformats.org/drawingml/2006/main" noGrp="1"/>
          </p:cNvSpPr>
          <p:nvPr/>
        </p:nvSpPr>
        <p:spPr>
          <a:xfrm xmlns:a="http://schemas.openxmlformats.org/drawingml/2006/main">
            <a:off x="1619250" y="32099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07162D"/>
                </a:solidFill>
                <a:latin typeface="Arial"/>
                <a:ea typeface="Arial"/>
                <a:cs typeface="Arial"/>
              </a:defRPr>
            </a:pPr>
            <a:r>
              <a:rPr sz="1875" b="1" i="0">
                <a:solidFill>
                  <a:srgbClr val="07162D"/>
                </a:solidFill>
                <a:latin typeface="Arial"/>
                <a:ea typeface="Arial"/>
                <a:cs typeface="Arial"/>
              </a:rPr>
              <a:t>A human-labeled benchmark</a:t>
            </a:r>
          </a:p>
        </p:txBody>
      </p:sp>
      <p:sp>
        <p:nvSpPr>
          <p:cNvPr id="9" name="">
            <a:extLst xmlns:a="http://schemas.openxmlformats.org/drawingml/2006/main">
              <a:ext uri="{FF2B5EF4-FFF2-40B4-BE49-F238E27FC236}">
                <a16:creationId xmlns:a16="http://schemas.microsoft.com/office/drawing/2014/main" id="{C565A08E-D98C-4E7D-B294-0205E4C2A5DE}"/>
              </a:ext>
            </a:extLst>
          </p:cNvPr>
          <p:cNvSpPr>
            <a:spLocks xmlns:a="http://schemas.openxmlformats.org/drawingml/2006/main" noGrp="1"/>
          </p:cNvSpPr>
          <p:nvPr/>
        </p:nvSpPr>
        <p:spPr>
          <a:xfrm xmlns:a="http://schemas.openxmlformats.org/drawingml/2006/main">
            <a:off x="1619250" y="3629025"/>
            <a:ext cx="966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526174"/>
                </a:solidFill>
                <a:latin typeface="Arial"/>
                <a:ea typeface="Arial"/>
                <a:cs typeface="Arial"/>
              </a:defRPr>
            </a:pPr>
            <a:r>
              <a:rPr sz="1350" b="0" i="0">
                <a:solidFill>
                  <a:srgbClr val="526174"/>
                </a:solidFill>
                <a:latin typeface="Arial"/>
                <a:ea typeface="Arial"/>
                <a:cs typeface="Arial"/>
              </a:rPr>
              <a:t>Sample across vendor, category, language, and return reason. Have category reviewers adjudicate labels; agree accuracy and review-rate thresholds before using rankings.</a:t>
            </a:r>
          </a:p>
        </p:txBody>
      </p:sp>
      <p:sp>
        <p:nvSpPr>
          <p:cNvPr id="10" name="">
            <a:extLst xmlns:a="http://schemas.openxmlformats.org/drawingml/2006/main">
              <a:ext uri="{FF2B5EF4-FFF2-40B4-BE49-F238E27FC236}">
                <a16:creationId xmlns:a16="http://schemas.microsoft.com/office/drawing/2014/main" id="{5080346F-2049-421C-A5D4-E30F8ECCCC1F}"/>
              </a:ext>
            </a:extLst>
          </p:cNvPr>
          <p:cNvSpPr>
            <a:spLocks xmlns:a="http://schemas.openxmlformats.org/drawingml/2006/main" noGrp="1"/>
          </p:cNvSpPr>
          <p:nvPr/>
        </p:nvSpPr>
        <p:spPr>
          <a:xfrm xmlns:a="http://schemas.openxmlformats.org/drawingml/2006/main">
            <a:off x="781050" y="446722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i="0">
                <a:solidFill>
                  <a:srgbClr val="D744C4"/>
                </a:solidFill>
                <a:latin typeface="Arial"/>
                <a:ea typeface="Arial"/>
                <a:cs typeface="Arial"/>
              </a:defRPr>
            </a:pPr>
            <a:r>
              <a:rPr sz="2625" b="1" i="0">
                <a:solidFill>
                  <a:srgbClr val="D744C4"/>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831335B-1939-48F5-9808-F23B116B8F10}"/>
              </a:ext>
            </a:extLst>
          </p:cNvPr>
          <p:cNvSpPr>
            <a:spLocks xmlns:a="http://schemas.openxmlformats.org/drawingml/2006/main" noGrp="1"/>
          </p:cNvSpPr>
          <p:nvPr/>
        </p:nvSpPr>
        <p:spPr>
          <a:xfrm xmlns:a="http://schemas.openxmlformats.org/drawingml/2006/main">
            <a:off x="1619250" y="44672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07162D"/>
                </a:solidFill>
                <a:latin typeface="Arial"/>
                <a:ea typeface="Arial"/>
                <a:cs typeface="Arial"/>
              </a:defRPr>
            </a:pPr>
            <a:r>
              <a:rPr sz="1875" b="1" i="0">
                <a:solidFill>
                  <a:srgbClr val="07162D"/>
                </a:solidFill>
                <a:latin typeface="Arial"/>
                <a:ea typeface="Arial"/>
                <a:cs typeface="Arial"/>
              </a:rPr>
              <a:t>Vendor and acquisition joins</a:t>
            </a:r>
          </a:p>
        </p:txBody>
      </p:sp>
      <p:sp>
        <p:nvSpPr>
          <p:cNvPr id="12" name="">
            <a:extLst xmlns:a="http://schemas.openxmlformats.org/drawingml/2006/main">
              <a:ext uri="{FF2B5EF4-FFF2-40B4-BE49-F238E27FC236}">
                <a16:creationId xmlns:a16="http://schemas.microsoft.com/office/drawing/2014/main" id="{C69E04D4-AABA-44AA-959A-E57D9C2513B9}"/>
              </a:ext>
            </a:extLst>
          </p:cNvPr>
          <p:cNvSpPr>
            <a:spLocks xmlns:a="http://schemas.openxmlformats.org/drawingml/2006/main" noGrp="1"/>
          </p:cNvSpPr>
          <p:nvPr/>
        </p:nvSpPr>
        <p:spPr>
          <a:xfrm xmlns:a="http://schemas.openxmlformats.org/drawingml/2006/main">
            <a:off x="1619250" y="4886325"/>
            <a:ext cx="966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526174"/>
                </a:solidFill>
                <a:latin typeface="Arial"/>
                <a:ea typeface="Arial"/>
                <a:cs typeface="Arial"/>
              </a:defRPr>
            </a:pPr>
            <a:r>
              <a:rPr sz="1350" b="0" i="0">
                <a:solidFill>
                  <a:srgbClr val="526174"/>
                </a:solidFill>
                <a:latin typeface="Arial"/>
                <a:ea typeface="Arial"/>
                <a:cs typeface="Arial"/>
              </a:rPr>
              <a:t>Compare fit causes with vendor size-chart versions. Define a stable order/customer/acquisition attribution key before testing downstream retention or acquisition impact.</a:t>
            </a:r>
          </a:p>
        </p:txBody>
      </p:sp>
      <p:sp>
        <p:nvSpPr>
          <p:cNvPr id="13" name="">
            <a:extLst xmlns:a="http://schemas.openxmlformats.org/drawingml/2006/main">
              <a:ext uri="{FF2B5EF4-FFF2-40B4-BE49-F238E27FC236}">
                <a16:creationId xmlns:a16="http://schemas.microsoft.com/office/drawing/2014/main" id="{B49EED7F-8DB5-4B4A-8096-329D24DEE7B0}"/>
              </a:ext>
            </a:extLst>
          </p:cNvPr>
          <p:cNvSpPr>
            <a:spLocks xmlns:a="http://schemas.openxmlformats.org/drawingml/2006/main" noGrp="1"/>
          </p:cNvSpPr>
          <p:nvPr/>
        </p:nvSpPr>
        <p:spPr>
          <a:xfrm xmlns:a="http://schemas.openxmlformats.org/drawingml/2006/main">
            <a:off x="781050" y="57721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2B5F86"/>
                </a:solidFill>
                <a:latin typeface="Arial"/>
                <a:ea typeface="Arial"/>
                <a:cs typeface="Arial"/>
              </a:defRPr>
            </a:pPr>
            <a:r>
              <a:rPr sz="1575" b="1" i="0">
                <a:solidFill>
                  <a:srgbClr val="2B5F86"/>
                </a:solidFill>
                <a:latin typeface="Arial"/>
                <a:ea typeface="Arial"/>
                <a:cs typeface="Arial"/>
              </a:rPr>
              <a:t>Decision requested: who can sponsor the data sample, label review, and pilot acceptance criteria?</a:t>
            </a:r>
          </a:p>
        </p:txBody>
      </p:sp>
    </p:spTree>
    <p:extLst>
      <p:ext uri="{BB962C8B-B14F-4D97-AF65-F5344CB8AC3E}">
        <p14:creationId xmlns:p14="http://schemas.microsoft.com/office/powerpoint/2010/main" val="1243568854"/>
      </p:ext>
    </p:extLst>
  </p:cSld>
</p:sld>
</file>

<file path=ppt/slides/slide5.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F9A9B40-F969-4944-A726-1E8E3760399E}"/>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05 / QUESTIONS · 6 MIN</a:t>
            </a:r>
          </a:p>
        </p:txBody>
      </p:sp>
      <p:sp>
        <p:nvSpPr>
          <p:cNvPr id="2" name="">
            <a:extLst xmlns:a="http://schemas.openxmlformats.org/drawingml/2006/main">
              <a:ext uri="{FF2B5EF4-FFF2-40B4-BE49-F238E27FC236}">
                <a16:creationId xmlns:a16="http://schemas.microsoft.com/office/drawing/2014/main" id="{54C03950-CF1B-4227-87AF-2E4714F232FD}"/>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i="0">
                <a:solidFill>
                  <a:srgbClr val="07162D"/>
                </a:solidFill>
                <a:latin typeface="Arial"/>
                <a:ea typeface="Arial"/>
                <a:cs typeface="Arial"/>
              </a:defRPr>
            </a:pPr>
            <a:r>
              <a:rPr sz="3150" b="1" i="0">
                <a:solidFill>
                  <a:srgbClr val="07162D"/>
                </a:solidFill>
                <a:latin typeface="Arial"/>
                <a:ea typeface="Arial"/>
                <a:cs typeface="Arial"/>
              </a:rPr>
              <a:t>Questions on cost, ownership, and mistakes</a:t>
            </a:r>
          </a:p>
        </p:txBody>
      </p:sp>
      <p:sp>
        <p:nvSpPr>
          <p:cNvPr id="3" name="">
            <a:extLst xmlns:a="http://schemas.openxmlformats.org/drawingml/2006/main">
              <a:ext uri="{FF2B5EF4-FFF2-40B4-BE49-F238E27FC236}">
                <a16:creationId xmlns:a16="http://schemas.microsoft.com/office/drawing/2014/main" id="{2575A0E9-8B55-472C-A355-E3CD2F76BB0A}"/>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05 / Questions     |     Presenter: [Click to edit name]</a:t>
            </a:r>
          </a:p>
        </p:txBody>
      </p:sp>
      <p:sp>
        <p:nvSpPr>
          <p:cNvPr id="4" name="">
            <a:extLst xmlns:a="http://schemas.openxmlformats.org/drawingml/2006/main">
              <a:ext uri="{FF2B5EF4-FFF2-40B4-BE49-F238E27FC236}">
                <a16:creationId xmlns:a16="http://schemas.microsoft.com/office/drawing/2014/main" id="{1B1A7D1C-D26C-419B-AA6C-A08162CBF4A8}"/>
              </a:ext>
            </a:extLst>
          </p:cNvPr>
          <p:cNvSpPr>
            <a:spLocks xmlns:a="http://schemas.openxmlformats.org/drawingml/2006/main" noGrp="1"/>
          </p:cNvSpPr>
          <p:nvPr/>
        </p:nvSpPr>
        <p:spPr>
          <a:xfrm xmlns:a="http://schemas.openxmlformats.org/drawingml/2006/main">
            <a:off x="800100" y="18764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COST</a:t>
            </a:r>
          </a:p>
        </p:txBody>
      </p:sp>
      <p:sp>
        <p:nvSpPr>
          <p:cNvPr id="5" name="">
            <a:extLst xmlns:a="http://schemas.openxmlformats.org/drawingml/2006/main">
              <a:ext uri="{FF2B5EF4-FFF2-40B4-BE49-F238E27FC236}">
                <a16:creationId xmlns:a16="http://schemas.microsoft.com/office/drawing/2014/main" id="{B24C839F-1F81-4C3C-9379-A6BC5A870B97}"/>
              </a:ext>
            </a:extLst>
          </p:cNvPr>
          <p:cNvSpPr>
            <a:spLocks xmlns:a="http://schemas.openxmlformats.org/drawingml/2006/main" noGrp="1"/>
          </p:cNvSpPr>
          <p:nvPr/>
        </p:nvSpPr>
        <p:spPr>
          <a:xfrm xmlns:a="http://schemas.openxmlformats.org/drawingml/2006/main">
            <a:off x="2609850" y="185737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07162D"/>
                </a:solidFill>
                <a:latin typeface="Arial"/>
                <a:ea typeface="Arial"/>
                <a:cs typeface="Arial"/>
              </a:defRPr>
            </a:pPr>
            <a:r>
              <a:rPr sz="1500" b="0" i="0">
                <a:solidFill>
                  <a:srgbClr val="07162D"/>
                </a:solidFill>
                <a:latin typeface="Arial"/>
                <a:ea typeface="Arial"/>
                <a:cs typeface="Arial"/>
              </a:rPr>
              <a:t>Illustrative model-only estimate: about $5.65 per week at the assumed 10% escalation rate and 14,880 returns/week. Not a measured bill.</a:t>
            </a:r>
          </a:p>
        </p:txBody>
      </p:sp>
      <p:sp>
        <p:nvSpPr>
          <p:cNvPr id="6" name="">
            <a:extLst xmlns:a="http://schemas.openxmlformats.org/drawingml/2006/main">
              <a:ext uri="{FF2B5EF4-FFF2-40B4-BE49-F238E27FC236}">
                <a16:creationId xmlns:a16="http://schemas.microsoft.com/office/drawing/2014/main" id="{2462409A-B5B5-45A8-A573-3DBEA818F192}"/>
              </a:ext>
            </a:extLst>
          </p:cNvPr>
          <p:cNvSpPr>
            <a:spLocks xmlns:a="http://schemas.openxmlformats.org/drawingml/2006/main" noGrp="1"/>
          </p:cNvSpPr>
          <p:nvPr/>
        </p:nvSpPr>
        <p:spPr>
          <a:xfrm xmlns:a="http://schemas.openxmlformats.org/drawingml/2006/main">
            <a:off x="800100" y="28289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OPERATIONS</a:t>
            </a:r>
          </a:p>
        </p:txBody>
      </p:sp>
      <p:sp>
        <p:nvSpPr>
          <p:cNvPr id="7" name="">
            <a:extLst xmlns:a="http://schemas.openxmlformats.org/drawingml/2006/main">
              <a:ext uri="{FF2B5EF4-FFF2-40B4-BE49-F238E27FC236}">
                <a16:creationId xmlns:a16="http://schemas.microsoft.com/office/drawing/2014/main" id="{3B1EEF79-D301-419E-8EEA-331298B3E3DE}"/>
              </a:ext>
            </a:extLst>
          </p:cNvPr>
          <p:cNvSpPr>
            <a:spLocks xmlns:a="http://schemas.openxmlformats.org/drawingml/2006/main" noGrp="1"/>
          </p:cNvSpPr>
          <p:nvPr/>
        </p:nvSpPr>
        <p:spPr>
          <a:xfrm xmlns:a="http://schemas.openxmlformats.org/drawingml/2006/main">
            <a:off x="2609850" y="280987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07162D"/>
                </a:solidFill>
                <a:latin typeface="Arial"/>
                <a:ea typeface="Arial"/>
                <a:cs typeface="Arial"/>
              </a:defRPr>
            </a:pPr>
            <a:r>
              <a:rPr sz="1500" b="0" i="0">
                <a:solidFill>
                  <a:srgbClr val="07162D"/>
                </a:solidFill>
                <a:latin typeface="Arial"/>
                <a:ea typeface="Arial"/>
                <a:cs typeface="Arial"/>
              </a:rPr>
              <a:t>Proposed split: category operations reviews uncertain labels; product/engineering owns deployment, database, model configuration, and support. Confirm owners with Dhaga.</a:t>
            </a:r>
          </a:p>
        </p:txBody>
      </p:sp>
      <p:sp>
        <p:nvSpPr>
          <p:cNvPr id="8" name="">
            <a:extLst xmlns:a="http://schemas.openxmlformats.org/drawingml/2006/main">
              <a:ext uri="{FF2B5EF4-FFF2-40B4-BE49-F238E27FC236}">
                <a16:creationId xmlns:a16="http://schemas.microsoft.com/office/drawing/2014/main" id="{AB2C8238-53A4-46DC-B393-253E23FF18E0}"/>
              </a:ext>
            </a:extLst>
          </p:cNvPr>
          <p:cNvSpPr>
            <a:spLocks xmlns:a="http://schemas.openxmlformats.org/drawingml/2006/main" noGrp="1"/>
          </p:cNvSpPr>
          <p:nvPr/>
        </p:nvSpPr>
        <p:spPr>
          <a:xfrm xmlns:a="http://schemas.openxmlformats.org/drawingml/2006/main">
            <a:off x="800100" y="37814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WRONG LABEL</a:t>
            </a:r>
          </a:p>
        </p:txBody>
      </p:sp>
      <p:sp>
        <p:nvSpPr>
          <p:cNvPr id="9" name="">
            <a:extLst xmlns:a="http://schemas.openxmlformats.org/drawingml/2006/main">
              <a:ext uri="{FF2B5EF4-FFF2-40B4-BE49-F238E27FC236}">
                <a16:creationId xmlns:a16="http://schemas.microsoft.com/office/drawing/2014/main" id="{D81CDE13-B27A-4031-AB48-5987A1754080}"/>
              </a:ext>
            </a:extLst>
          </p:cNvPr>
          <p:cNvSpPr>
            <a:spLocks xmlns:a="http://schemas.openxmlformats.org/drawingml/2006/main" noGrp="1"/>
          </p:cNvSpPr>
          <p:nvPr/>
        </p:nvSpPr>
        <p:spPr>
          <a:xfrm xmlns:a="http://schemas.openxmlformats.org/drawingml/2006/main">
            <a:off x="2609850" y="376237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07162D"/>
                </a:solidFill>
                <a:latin typeface="Arial"/>
                <a:ea typeface="Arial"/>
                <a:cs typeface="Arial"/>
              </a:defRPr>
            </a:pPr>
            <a:r>
              <a:rPr sz="1500" b="0" i="0">
                <a:solidFill>
                  <a:srgbClr val="07162D"/>
                </a:solidFill>
                <a:latin typeface="Arial"/>
                <a:ea typeface="Arial"/>
                <a:cs typeface="Arial"/>
              </a:rPr>
              <a:t>Low-confidence and Other outcomes go to review. A confident wrong label is still possible; validate against a human-labeled holdout before decisions or automation.</a:t>
            </a:r>
          </a:p>
        </p:txBody>
      </p:sp>
      <p:sp>
        <p:nvSpPr>
          <p:cNvPr id="10" name="">
            <a:extLst xmlns:a="http://schemas.openxmlformats.org/drawingml/2006/main">
              <a:ext uri="{FF2B5EF4-FFF2-40B4-BE49-F238E27FC236}">
                <a16:creationId xmlns:a16="http://schemas.microsoft.com/office/drawing/2014/main" id="{C0B793B2-0FE6-47DA-9648-B3C10710EFD6}"/>
              </a:ext>
            </a:extLst>
          </p:cNvPr>
          <p:cNvSpPr>
            <a:spLocks xmlns:a="http://schemas.openxmlformats.org/drawingml/2006/main" noGrp="1"/>
          </p:cNvSpPr>
          <p:nvPr/>
        </p:nvSpPr>
        <p:spPr>
          <a:xfrm xmlns:a="http://schemas.openxmlformats.org/drawingml/2006/main">
            <a:off x="800100" y="47339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REAL DATA</a:t>
            </a:r>
          </a:p>
        </p:txBody>
      </p:sp>
      <p:sp>
        <p:nvSpPr>
          <p:cNvPr id="11" name="">
            <a:extLst xmlns:a="http://schemas.openxmlformats.org/drawingml/2006/main">
              <a:ext uri="{FF2B5EF4-FFF2-40B4-BE49-F238E27FC236}">
                <a16:creationId xmlns:a16="http://schemas.microsoft.com/office/drawing/2014/main" id="{96A93C7F-7848-46B3-92B7-44624A897B48}"/>
              </a:ext>
            </a:extLst>
          </p:cNvPr>
          <p:cNvSpPr>
            <a:spLocks xmlns:a="http://schemas.openxmlformats.org/drawingml/2006/main" noGrp="1"/>
          </p:cNvSpPr>
          <p:nvPr/>
        </p:nvSpPr>
        <p:spPr>
          <a:xfrm xmlns:a="http://schemas.openxmlformats.org/drawingml/2006/main">
            <a:off x="2609850" y="471487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07162D"/>
                </a:solidFill>
                <a:latin typeface="Arial"/>
                <a:ea typeface="Arial"/>
                <a:cs typeface="Arial"/>
              </a:defRPr>
            </a:pPr>
            <a:r>
              <a:rPr sz="1500" b="0" i="0">
                <a:solidFill>
                  <a:srgbClr val="07162D"/>
                </a:solidFill>
                <a:latin typeface="Arial"/>
                <a:ea typeface="Arial"/>
                <a:cs typeface="Arial"/>
              </a:rPr>
              <a:t>The current demo uses synthetic/test records. Before client data: approve access, privacy, retention, and model-provider handling; add appropriate access controls.</a:t>
            </a:r>
          </a:p>
        </p:txBody>
      </p:sp>
      <p:sp>
        <p:nvSpPr>
          <p:cNvPr id="12" name="">
            <a:extLst xmlns:a="http://schemas.openxmlformats.org/drawingml/2006/main">
              <a:ext uri="{FF2B5EF4-FFF2-40B4-BE49-F238E27FC236}">
                <a16:creationId xmlns:a16="http://schemas.microsoft.com/office/drawing/2014/main" id="{1F118085-463E-41E0-815C-D8B027309EBD}"/>
              </a:ext>
            </a:extLst>
          </p:cNvPr>
          <p:cNvSpPr>
            <a:spLocks xmlns:a="http://schemas.openxmlformats.org/drawingml/2006/main" noGrp="1"/>
          </p:cNvSpPr>
          <p:nvPr/>
        </p:nvSpPr>
        <p:spPr>
          <a:xfrm xmlns:a="http://schemas.openxmlformats.org/drawingml/2006/main">
            <a:off x="800100" y="57721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i="0">
                <a:solidFill>
                  <a:srgbClr val="2B5F86"/>
                </a:solidFill>
                <a:latin typeface="Arial"/>
                <a:ea typeface="Arial"/>
                <a:cs typeface="Arial"/>
              </a:defRPr>
            </a:pPr>
            <a:r>
              <a:rPr sz="2100" b="1" i="0">
                <a:solidFill>
                  <a:srgbClr val="2B5F86"/>
                </a:solidFill>
                <a:latin typeface="Arial"/>
                <a:ea typeface="Arial"/>
                <a:cs typeface="Arial"/>
              </a:rPr>
              <a:t>What would you need to trust this in a category decision?</a:t>
            </a:r>
          </a:p>
        </p:txBody>
      </p:sp>
    </p:spTree>
    <p:extLst>
      <p:ext uri="{BB962C8B-B14F-4D97-AF65-F5344CB8AC3E}">
        <p14:creationId xmlns:p14="http://schemas.microsoft.com/office/powerpoint/2010/main" val="393403754"/>
      </p:ext>
    </p:extLst>
  </p:cSld>
</p:sld>
</file>

<file path=ppt/slides/slide6.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23CF1C8-C21C-451F-87A3-53131DF5EF15}"/>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APPENDIX / COST ASSUMPTIONS</a:t>
            </a:r>
          </a:p>
        </p:txBody>
      </p:sp>
      <p:sp>
        <p:nvSpPr>
          <p:cNvPr id="2" name="">
            <a:extLst xmlns:a="http://schemas.openxmlformats.org/drawingml/2006/main">
              <a:ext uri="{FF2B5EF4-FFF2-40B4-BE49-F238E27FC236}">
                <a16:creationId xmlns:a16="http://schemas.microsoft.com/office/drawing/2014/main" id="{B4110979-46EF-4B15-83FF-40DEC2721D64}"/>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i="0">
                <a:solidFill>
                  <a:srgbClr val="07162D"/>
                </a:solidFill>
                <a:latin typeface="Arial"/>
                <a:ea typeface="Arial"/>
                <a:cs typeface="Arial"/>
              </a:defRPr>
            </a:pPr>
            <a:r>
              <a:rPr sz="3150" b="1" i="0">
                <a:solidFill>
                  <a:srgbClr val="07162D"/>
                </a:solidFill>
                <a:latin typeface="Arial"/>
                <a:ea typeface="Arial"/>
                <a:cs typeface="Arial"/>
              </a:rPr>
              <a:t>Model cost is a scenario, not an observed bill</a:t>
            </a:r>
          </a:p>
        </p:txBody>
      </p:sp>
      <p:sp>
        <p:nvSpPr>
          <p:cNvPr id="3" name="">
            <a:extLst xmlns:a="http://schemas.openxmlformats.org/drawingml/2006/main">
              <a:ext uri="{FF2B5EF4-FFF2-40B4-BE49-F238E27FC236}">
                <a16:creationId xmlns:a16="http://schemas.microsoft.com/office/drawing/2014/main" id="{FDE9E0BF-127E-4E85-8FDE-493A68EBFB7D}"/>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Appendix / cost assumptions     |     Backup slide</a:t>
            </a:r>
          </a:p>
        </p:txBody>
      </p:sp>
      <p:sp>
        <p:nvSpPr>
          <p:cNvPr id="4" name="">
            <a:extLst xmlns:a="http://schemas.openxmlformats.org/drawingml/2006/main">
              <a:ext uri="{FF2B5EF4-FFF2-40B4-BE49-F238E27FC236}">
                <a16:creationId xmlns:a16="http://schemas.microsoft.com/office/drawing/2014/main" id="{7C28F686-14F3-433D-ADC7-FB5CBC658AE2}"/>
              </a:ext>
            </a:extLst>
          </p:cNvPr>
          <p:cNvSpPr>
            <a:spLocks xmlns:a="http://schemas.openxmlformats.org/drawingml/2006/main" noGrp="1"/>
          </p:cNvSpPr>
          <p:nvPr/>
        </p:nvSpPr>
        <p:spPr>
          <a:xfrm xmlns:a="http://schemas.openxmlformats.org/drawingml/2006/main">
            <a:off x="781050" y="180975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2B5F86"/>
                </a:solidFill>
                <a:latin typeface="Arial"/>
                <a:ea typeface="Arial"/>
                <a:cs typeface="Arial"/>
              </a:defRPr>
            </a:pPr>
            <a:r>
              <a:rPr sz="1200" b="1" i="0">
                <a:solidFill>
                  <a:srgbClr val="2B5F86"/>
                </a:solidFill>
                <a:latin typeface="Arial"/>
                <a:ea typeface="Arial"/>
                <a:cs typeface="Arial"/>
              </a:rPr>
              <a:t>LIGHT MODEL · GPT-4.1 MINI</a:t>
            </a:r>
          </a:p>
        </p:txBody>
      </p:sp>
      <p:sp>
        <p:nvSpPr>
          <p:cNvPr id="5" name="">
            <a:extLst xmlns:a="http://schemas.openxmlformats.org/drawingml/2006/main">
              <a:ext uri="{FF2B5EF4-FFF2-40B4-BE49-F238E27FC236}">
                <a16:creationId xmlns:a16="http://schemas.microsoft.com/office/drawing/2014/main" id="{85717D02-0E0F-4319-8308-BDDE6070DE7B}"/>
              </a:ext>
            </a:extLst>
          </p:cNvPr>
          <p:cNvSpPr>
            <a:spLocks xmlns:a="http://schemas.openxmlformats.org/drawingml/2006/main" noGrp="1"/>
          </p:cNvSpPr>
          <p:nvPr/>
        </p:nvSpPr>
        <p:spPr>
          <a:xfrm xmlns:a="http://schemas.openxmlformats.org/drawingml/2006/main">
            <a:off x="781050" y="2190750"/>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07162D"/>
                </a:solidFill>
                <a:latin typeface="Arial"/>
                <a:ea typeface="Arial"/>
                <a:cs typeface="Arial"/>
              </a:defRPr>
            </a:pPr>
            <a:r>
              <a:rPr sz="1650" b="0" i="0">
                <a:solidFill>
                  <a:srgbClr val="07162D"/>
                </a:solidFill>
                <a:latin typeface="Arial"/>
                <a:ea typeface="Arial"/>
                <a:cs typeface="Arial"/>
              </a:rPr>
              <a:t>200 input + 100 output tokens</a:t>
            </a:r>
          </a:p>
        </p:txBody>
      </p:sp>
      <p:sp>
        <p:nvSpPr>
          <p:cNvPr id="6" name="">
            <a:extLst xmlns:a="http://schemas.openxmlformats.org/drawingml/2006/main">
              <a:ext uri="{FF2B5EF4-FFF2-40B4-BE49-F238E27FC236}">
                <a16:creationId xmlns:a16="http://schemas.microsoft.com/office/drawing/2014/main" id="{EF7F2CFC-904A-4048-9416-F2CD9F13997C}"/>
              </a:ext>
            </a:extLst>
          </p:cNvPr>
          <p:cNvSpPr>
            <a:spLocks xmlns:a="http://schemas.openxmlformats.org/drawingml/2006/main" noGrp="1"/>
          </p:cNvSpPr>
          <p:nvPr/>
        </p:nvSpPr>
        <p:spPr>
          <a:xfrm xmlns:a="http://schemas.openxmlformats.org/drawingml/2006/main">
            <a:off x="781050" y="26384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i="0">
                <a:solidFill>
                  <a:srgbClr val="07162D"/>
                </a:solidFill>
                <a:latin typeface="Arial"/>
                <a:ea typeface="Arial"/>
                <a:cs typeface="Arial"/>
              </a:defRPr>
            </a:pPr>
            <a:r>
              <a:rPr sz="2100" b="1" i="0">
                <a:solidFill>
                  <a:srgbClr val="07162D"/>
                </a:solidFill>
                <a:latin typeface="Arial"/>
                <a:ea typeface="Arial"/>
                <a:cs typeface="Arial"/>
              </a:rPr>
              <a:t>≈ $0.00024 per light call</a:t>
            </a:r>
          </a:p>
        </p:txBody>
      </p:sp>
      <p:sp>
        <p:nvSpPr>
          <p:cNvPr id="7" name="">
            <a:extLst xmlns:a="http://schemas.openxmlformats.org/drawingml/2006/main">
              <a:ext uri="{FF2B5EF4-FFF2-40B4-BE49-F238E27FC236}">
                <a16:creationId xmlns:a16="http://schemas.microsoft.com/office/drawing/2014/main" id="{BB85256F-3931-4FBB-B3E9-D80B9CCAEA55}"/>
              </a:ext>
            </a:extLst>
          </p:cNvPr>
          <p:cNvSpPr>
            <a:spLocks xmlns:a="http://schemas.openxmlformats.org/drawingml/2006/main" noGrp="1"/>
          </p:cNvSpPr>
          <p:nvPr/>
        </p:nvSpPr>
        <p:spPr>
          <a:xfrm xmlns:a="http://schemas.openxmlformats.org/drawingml/2006/main">
            <a:off x="6286500" y="1809750"/>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2B5F86"/>
                </a:solidFill>
                <a:latin typeface="Arial"/>
                <a:ea typeface="Arial"/>
                <a:cs typeface="Arial"/>
              </a:defRPr>
            </a:pPr>
            <a:r>
              <a:rPr sz="1200" b="1" i="0">
                <a:solidFill>
                  <a:srgbClr val="2B5F86"/>
                </a:solidFill>
                <a:latin typeface="Arial"/>
                <a:ea typeface="Arial"/>
                <a:cs typeface="Arial"/>
              </a:rPr>
              <a:t>HEAVY ESCALATION · GPT-4.1</a:t>
            </a:r>
          </a:p>
        </p:txBody>
      </p:sp>
      <p:sp>
        <p:nvSpPr>
          <p:cNvPr id="8" name="">
            <a:extLst xmlns:a="http://schemas.openxmlformats.org/drawingml/2006/main">
              <a:ext uri="{FF2B5EF4-FFF2-40B4-BE49-F238E27FC236}">
                <a16:creationId xmlns:a16="http://schemas.microsoft.com/office/drawing/2014/main" id="{FAEEF89E-A29F-4A34-8D58-A1AADAB635A3}"/>
              </a:ext>
            </a:extLst>
          </p:cNvPr>
          <p:cNvSpPr>
            <a:spLocks xmlns:a="http://schemas.openxmlformats.org/drawingml/2006/main" noGrp="1"/>
          </p:cNvSpPr>
          <p:nvPr/>
        </p:nvSpPr>
        <p:spPr>
          <a:xfrm xmlns:a="http://schemas.openxmlformats.org/drawingml/2006/main">
            <a:off x="6286500" y="21907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07162D"/>
                </a:solidFill>
                <a:latin typeface="Arial"/>
                <a:ea typeface="Arial"/>
                <a:cs typeface="Arial"/>
              </a:defRPr>
            </a:pPr>
            <a:r>
              <a:rPr sz="1650" b="0" i="0">
                <a:solidFill>
                  <a:srgbClr val="07162D"/>
                </a:solidFill>
                <a:latin typeface="Arial"/>
                <a:ea typeface="Arial"/>
                <a:cs typeface="Arial"/>
              </a:rPr>
              <a:t>300 input + 100 output tokens</a:t>
            </a:r>
          </a:p>
        </p:txBody>
      </p:sp>
      <p:sp>
        <p:nvSpPr>
          <p:cNvPr id="9" name="">
            <a:extLst xmlns:a="http://schemas.openxmlformats.org/drawingml/2006/main">
              <a:ext uri="{FF2B5EF4-FFF2-40B4-BE49-F238E27FC236}">
                <a16:creationId xmlns:a16="http://schemas.microsoft.com/office/drawing/2014/main" id="{B01AE0E4-572D-4BA3-8368-2676E77A0463}"/>
              </a:ext>
            </a:extLst>
          </p:cNvPr>
          <p:cNvSpPr>
            <a:spLocks xmlns:a="http://schemas.openxmlformats.org/drawingml/2006/main" noGrp="1"/>
          </p:cNvSpPr>
          <p:nvPr/>
        </p:nvSpPr>
        <p:spPr>
          <a:xfrm xmlns:a="http://schemas.openxmlformats.org/drawingml/2006/main">
            <a:off x="6286500" y="26384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i="0">
                <a:solidFill>
                  <a:srgbClr val="07162D"/>
                </a:solidFill>
                <a:latin typeface="Arial"/>
                <a:ea typeface="Arial"/>
                <a:cs typeface="Arial"/>
              </a:defRPr>
            </a:pPr>
            <a:r>
              <a:rPr sz="1950" b="1" i="0">
                <a:solidFill>
                  <a:srgbClr val="07162D"/>
                </a:solidFill>
                <a:latin typeface="Arial"/>
                <a:ea typeface="Arial"/>
                <a:cs typeface="Arial"/>
              </a:rPr>
              <a:t>≈ $0.00140 additional per escalation</a:t>
            </a:r>
          </a:p>
        </p:txBody>
      </p:sp>
      <p:sp>
        <p:nvSpPr>
          <p:cNvPr id="10" name="">
            <a:extLst xmlns:a="http://schemas.openxmlformats.org/drawingml/2006/main">
              <a:ext uri="{FF2B5EF4-FFF2-40B4-BE49-F238E27FC236}">
                <a16:creationId xmlns:a16="http://schemas.microsoft.com/office/drawing/2014/main" id="{251F680D-4966-4AEA-9974-6200441B3841}"/>
              </a:ext>
            </a:extLst>
          </p:cNvPr>
          <p:cNvSpPr>
            <a:spLocks xmlns:a="http://schemas.openxmlformats.org/drawingml/2006/main" noGrp="1"/>
          </p:cNvSpPr>
          <p:nvPr/>
        </p:nvSpPr>
        <p:spPr>
          <a:xfrm xmlns:a="http://schemas.openxmlformats.org/drawingml/2006/main">
            <a:off x="781050" y="364807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D744C4"/>
                </a:solidFill>
                <a:latin typeface="Arial"/>
                <a:ea typeface="Arial"/>
                <a:cs typeface="Arial"/>
              </a:defRPr>
            </a:pPr>
            <a:r>
              <a:rPr sz="1650" b="1" i="0">
                <a:solidFill>
                  <a:srgbClr val="D744C4"/>
                </a:solidFill>
                <a:latin typeface="Arial"/>
                <a:ea typeface="Arial"/>
                <a:cs typeface="Arial"/>
              </a:rPr>
              <a:t>At 10% escalation</a:t>
            </a:r>
          </a:p>
        </p:txBody>
      </p:sp>
      <p:sp>
        <p:nvSpPr>
          <p:cNvPr id="11" name="">
            <a:extLst xmlns:a="http://schemas.openxmlformats.org/drawingml/2006/main">
              <a:ext uri="{FF2B5EF4-FFF2-40B4-BE49-F238E27FC236}">
                <a16:creationId xmlns:a16="http://schemas.microsoft.com/office/drawing/2014/main" id="{67085D13-4B4B-49AE-83C3-D405B2E83CAD}"/>
              </a:ext>
            </a:extLst>
          </p:cNvPr>
          <p:cNvSpPr>
            <a:spLocks xmlns:a="http://schemas.openxmlformats.org/drawingml/2006/main" noGrp="1"/>
          </p:cNvSpPr>
          <p:nvPr/>
        </p:nvSpPr>
        <p:spPr>
          <a:xfrm xmlns:a="http://schemas.openxmlformats.org/drawingml/2006/main">
            <a:off x="781050" y="4048125"/>
            <a:ext cx="285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07162D"/>
                </a:solidFill>
                <a:latin typeface="Arial"/>
                <a:ea typeface="Arial"/>
                <a:cs typeface="Arial"/>
              </a:defRPr>
            </a:pPr>
            <a:r>
              <a:rPr sz="3600" b="1" i="0">
                <a:solidFill>
                  <a:srgbClr val="07162D"/>
                </a:solidFill>
                <a:latin typeface="Arial"/>
                <a:ea typeface="Arial"/>
                <a:cs typeface="Arial"/>
              </a:rPr>
              <a:t>$0.00038</a:t>
            </a:r>
          </a:p>
        </p:txBody>
      </p:sp>
      <p:sp>
        <p:nvSpPr>
          <p:cNvPr id="12" name="">
            <a:extLst xmlns:a="http://schemas.openxmlformats.org/drawingml/2006/main">
              <a:ext uri="{FF2B5EF4-FFF2-40B4-BE49-F238E27FC236}">
                <a16:creationId xmlns:a16="http://schemas.microsoft.com/office/drawing/2014/main" id="{199E882A-E1F4-449D-8EFB-C43F5D3E840D}"/>
              </a:ext>
            </a:extLst>
          </p:cNvPr>
          <p:cNvSpPr>
            <a:spLocks xmlns:a="http://schemas.openxmlformats.org/drawingml/2006/main" noGrp="1"/>
          </p:cNvSpPr>
          <p:nvPr/>
        </p:nvSpPr>
        <p:spPr>
          <a:xfrm xmlns:a="http://schemas.openxmlformats.org/drawingml/2006/main">
            <a:off x="800100" y="4638675"/>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526174"/>
                </a:solidFill>
                <a:latin typeface="Arial"/>
                <a:ea typeface="Arial"/>
                <a:cs typeface="Arial"/>
              </a:defRPr>
            </a:pPr>
            <a:r>
              <a:rPr sz="1275" b="0" i="0">
                <a:solidFill>
                  <a:srgbClr val="526174"/>
                </a:solidFill>
                <a:latin typeface="Arial"/>
                <a:ea typeface="Arial"/>
                <a:cs typeface="Arial"/>
              </a:rPr>
              <a:t>per return</a:t>
            </a:r>
          </a:p>
        </p:txBody>
      </p:sp>
      <p:sp>
        <p:nvSpPr>
          <p:cNvPr id="13" name="">
            <a:extLst xmlns:a="http://schemas.openxmlformats.org/drawingml/2006/main">
              <a:ext uri="{FF2B5EF4-FFF2-40B4-BE49-F238E27FC236}">
                <a16:creationId xmlns:a16="http://schemas.microsoft.com/office/drawing/2014/main" id="{8F630AB0-2899-485E-BE0A-25EE1CBF7A22}"/>
              </a:ext>
            </a:extLst>
          </p:cNvPr>
          <p:cNvSpPr>
            <a:spLocks xmlns:a="http://schemas.openxmlformats.org/drawingml/2006/main" noGrp="1"/>
          </p:cNvSpPr>
          <p:nvPr/>
        </p:nvSpPr>
        <p:spPr>
          <a:xfrm xmlns:a="http://schemas.openxmlformats.org/drawingml/2006/main">
            <a:off x="4114800" y="4105275"/>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i="0">
                <a:solidFill>
                  <a:srgbClr val="07162D"/>
                </a:solidFill>
                <a:latin typeface="Arial"/>
                <a:ea typeface="Arial"/>
                <a:cs typeface="Arial"/>
              </a:defRPr>
            </a:pPr>
            <a:r>
              <a:rPr sz="2700" b="1" i="0">
                <a:solidFill>
                  <a:srgbClr val="07162D"/>
                </a:solidFill>
                <a:latin typeface="Arial"/>
                <a:ea typeface="Arial"/>
                <a:cs typeface="Arial"/>
              </a:rPr>
              <a:t>≈ $5.65/week</a:t>
            </a:r>
          </a:p>
        </p:txBody>
      </p:sp>
      <p:sp>
        <p:nvSpPr>
          <p:cNvPr id="14" name="">
            <a:extLst xmlns:a="http://schemas.openxmlformats.org/drawingml/2006/main">
              <a:ext uri="{FF2B5EF4-FFF2-40B4-BE49-F238E27FC236}">
                <a16:creationId xmlns:a16="http://schemas.microsoft.com/office/drawing/2014/main" id="{E5497BBA-5DC1-4286-A8DC-EDDD26C000D3}"/>
              </a:ext>
            </a:extLst>
          </p:cNvPr>
          <p:cNvSpPr>
            <a:spLocks xmlns:a="http://schemas.openxmlformats.org/drawingml/2006/main" noGrp="1"/>
          </p:cNvSpPr>
          <p:nvPr/>
        </p:nvSpPr>
        <p:spPr>
          <a:xfrm xmlns:a="http://schemas.openxmlformats.org/drawingml/2006/main">
            <a:off x="4133850" y="46386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526174"/>
                </a:solidFill>
                <a:latin typeface="Arial"/>
                <a:ea typeface="Arial"/>
                <a:cs typeface="Arial"/>
              </a:defRPr>
            </a:pPr>
            <a:r>
              <a:rPr sz="1275" b="0" i="0">
                <a:solidFill>
                  <a:srgbClr val="526174"/>
                </a:solidFill>
                <a:latin typeface="Arial"/>
                <a:ea typeface="Arial"/>
                <a:cs typeface="Arial"/>
              </a:rPr>
              <a:t>at 14,880 returns / week</a:t>
            </a:r>
          </a:p>
        </p:txBody>
      </p:sp>
      <p:sp>
        <p:nvSpPr>
          <p:cNvPr id="15" name="">
            <a:extLst xmlns:a="http://schemas.openxmlformats.org/drawingml/2006/main">
              <a:ext uri="{FF2B5EF4-FFF2-40B4-BE49-F238E27FC236}">
                <a16:creationId xmlns:a16="http://schemas.microsoft.com/office/drawing/2014/main" id="{F654F343-E5EE-4A55-8D2B-D4C9FB8F1DD7}"/>
              </a:ext>
            </a:extLst>
          </p:cNvPr>
          <p:cNvSpPr>
            <a:spLocks xmlns:a="http://schemas.openxmlformats.org/drawingml/2006/main" noGrp="1"/>
          </p:cNvSpPr>
          <p:nvPr/>
        </p:nvSpPr>
        <p:spPr>
          <a:xfrm xmlns:a="http://schemas.openxmlformats.org/drawingml/2006/main">
            <a:off x="781050" y="52387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526174"/>
                </a:solidFill>
                <a:latin typeface="Arial"/>
                <a:ea typeface="Arial"/>
                <a:cs typeface="Arial"/>
              </a:defRPr>
            </a:pPr>
            <a:r>
              <a:rPr sz="1275" b="0" i="0">
                <a:solidFill>
                  <a:srgbClr val="526174"/>
                </a:solidFill>
                <a:latin typeface="Arial"/>
                <a:ea typeface="Arial"/>
                <a:cs typeface="Arial"/>
              </a:rPr>
              <a:t>Assumptions: 200/100 tokens on light calls, 300/100 on heavy calls, 10% escalation, current listed OpenRouter rates. Includes model calls only; excludes infrastructure and retries. Measure actual usage before budgeting.</a:t>
            </a:r>
          </a:p>
        </p:txBody>
      </p:sp>
    </p:spTree>
    <p:extLst>
      <p:ext uri="{BB962C8B-B14F-4D97-AF65-F5344CB8AC3E}">
        <p14:creationId xmlns:p14="http://schemas.microsoft.com/office/powerpoint/2010/main" val="15091673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2026-10-01T21:23:10.4840000Z</dcterms:created>
  <dcterms:modified xsi:type="dcterms:W3CDTF">2026-10-01T21:23:10.4840000Z</dcterms:modified>
</coreProperties>
</file>